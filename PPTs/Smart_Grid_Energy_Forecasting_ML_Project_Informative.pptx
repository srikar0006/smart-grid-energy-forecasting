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8395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1E"/>
          </a:solidFill>
          <a:ln w="12700">
            <a:solidFill>
              <a:srgbClr val="0612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9864" y="73152"/>
            <a:ext cx="6291072" cy="6638544"/>
          </a:xfrm>
          <a:prstGeom prst="roundRect">
            <a:avLst>
              <a:gd name="adj" fmla="val 1163"/>
            </a:avLst>
          </a:prstGeom>
          <a:solidFill>
            <a:srgbClr val="102A42"/>
          </a:solidFill>
          <a:ln w="12700">
            <a:solidFill>
              <a:srgbClr val="34C7FF">
                <a:alpha val="50000"/>
              </a:srgbClr>
            </a:solidFill>
            <a:prstDash val="solid"/>
          </a:ln>
          <a:effectLst>
            <a:outerShdw blurRad="20320" dist="1016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4" name="Image 0" descr="/mnt/data/a_wide_cinematic_futuristic_energy_technology_co_batch_1.png"/>
          <p:cNvPicPr>
            <a:picLocks noChangeAspect="1"/>
          </p:cNvPicPr>
          <p:nvPr/>
        </p:nvPicPr>
        <p:blipFill>
          <a:blip r:embed="rId3"/>
          <a:srcRect l="23349" r="23349"/>
          <a:stretch/>
        </p:blipFill>
        <p:spPr>
          <a:xfrm>
            <a:off x="5806440" y="109728"/>
            <a:ext cx="6217920" cy="65653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804672"/>
            <a:ext cx="4937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Grid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Energy Forecasting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85800" y="2240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D4B4"/>
                </a:solidFill>
              </a:rPr>
              <a:t>Machine Learning Mini Project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85800" y="26974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40" dirty="0">
                <a:solidFill>
                  <a:srgbClr val="B7C6D8"/>
                </a:solidFill>
              </a:rPr>
              <a:t>An ML-based system to forecast electricity demand, detect risky peaks, and support grid-planning decisions through a prediction API and dashboard.</a:t>
            </a:r>
            <a:endParaRPr lang="en-US" sz="1740" dirty="0"/>
          </a:p>
        </p:txBody>
      </p:sp>
      <p:sp>
        <p:nvSpPr>
          <p:cNvPr id="8" name="Shape 5"/>
          <p:cNvSpPr/>
          <p:nvPr/>
        </p:nvSpPr>
        <p:spPr>
          <a:xfrm>
            <a:off x="713232" y="3584448"/>
            <a:ext cx="1417320" cy="621792"/>
          </a:xfrm>
          <a:prstGeom prst="roundRect">
            <a:avLst>
              <a:gd name="adj" fmla="val 11765"/>
            </a:avLst>
          </a:prstGeom>
          <a:solidFill>
            <a:srgbClr val="071827">
              <a:alpha val="98000"/>
            </a:srgbClr>
          </a:solidFill>
          <a:ln w="12700">
            <a:solidFill>
              <a:srgbClr val="34C7FF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2104" y="3666744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4C7FF"/>
                </a:solidFill>
              </a:rPr>
              <a:t>24 hr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32104" y="3941064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B7C6D8"/>
                </a:solidFill>
              </a:rPr>
              <a:t>Forecast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2304288" y="3584448"/>
            <a:ext cx="1417320" cy="621792"/>
          </a:xfrm>
          <a:prstGeom prst="roundRect">
            <a:avLst>
              <a:gd name="adj" fmla="val 11765"/>
            </a:avLst>
          </a:prstGeom>
          <a:solidFill>
            <a:srgbClr val="071827">
              <a:alpha val="98000"/>
            </a:srgbClr>
          </a:solidFill>
          <a:ln w="12700">
            <a:solidFill>
              <a:srgbClr val="74E36A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23160" y="3666744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4E36A"/>
                </a:solidFill>
              </a:rPr>
              <a:t>0–100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2423160" y="3941064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B7C6D8"/>
                </a:solidFill>
              </a:rPr>
              <a:t>Risk score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3895344" y="3584448"/>
            <a:ext cx="1417320" cy="621792"/>
          </a:xfrm>
          <a:prstGeom prst="roundRect">
            <a:avLst>
              <a:gd name="adj" fmla="val 11765"/>
            </a:avLst>
          </a:prstGeom>
          <a:solidFill>
            <a:srgbClr val="071827">
              <a:alpha val="98000"/>
            </a:srgbClr>
          </a:solidFill>
          <a:ln w="12700">
            <a:solidFill>
              <a:srgbClr val="FFD166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14216" y="3666744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D166"/>
                </a:solidFill>
              </a:rPr>
              <a:t>FastAPI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014216" y="3941064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B7C6D8"/>
                </a:solidFill>
              </a:rPr>
              <a:t>API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713232" y="4572000"/>
            <a:ext cx="4178808" cy="1481328"/>
          </a:xfrm>
          <a:prstGeom prst="roundRect">
            <a:avLst>
              <a:gd name="adj" fmla="val 6061"/>
            </a:avLst>
          </a:prstGeom>
          <a:solidFill>
            <a:srgbClr val="0B2033">
              <a:alpha val="97000"/>
            </a:srgbClr>
          </a:solidFill>
          <a:ln w="12700">
            <a:solidFill>
              <a:srgbClr val="34C7FF">
                <a:alpha val="82000"/>
              </a:srgbClr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449324" y="4690872"/>
            <a:ext cx="3041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34C7FF"/>
                </a:solidFill>
              </a:rPr>
              <a:t>Team Roll Numbers &amp;  Names </a:t>
            </a:r>
            <a:endParaRPr lang="en-US" sz="1480" dirty="0"/>
          </a:p>
        </p:txBody>
      </p:sp>
      <p:sp>
        <p:nvSpPr>
          <p:cNvPr id="19" name="Text 16"/>
          <p:cNvSpPr/>
          <p:nvPr/>
        </p:nvSpPr>
        <p:spPr>
          <a:xfrm>
            <a:off x="859535" y="4946904"/>
            <a:ext cx="3443523" cy="96980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300" dirty="0">
                <a:solidFill>
                  <a:srgbClr val="F6FAFF"/>
                </a:solidFill>
              </a:rPr>
              <a:t>2510030006 – N Srikar</a:t>
            </a:r>
          </a:p>
          <a:p>
            <a:r>
              <a:rPr lang="en-US" sz="1300" dirty="0">
                <a:solidFill>
                  <a:srgbClr val="F6FAFF"/>
                </a:solidFill>
              </a:rPr>
              <a:t>2510030246 – M Sri Charan</a:t>
            </a:r>
          </a:p>
          <a:p>
            <a:r>
              <a:rPr lang="en-US" sz="1300" dirty="0">
                <a:solidFill>
                  <a:srgbClr val="F6FAFF"/>
                </a:solidFill>
              </a:rPr>
              <a:t>2510030147 – U Yogendra</a:t>
            </a:r>
          </a:p>
          <a:p>
            <a:r>
              <a:rPr lang="en-US" sz="1300" dirty="0">
                <a:solidFill>
                  <a:srgbClr val="F6FAFF"/>
                </a:solidFill>
              </a:rPr>
              <a:t>2510030008 – G Pranav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346704" y="4690872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80" dirty="0"/>
          </a:p>
        </p:txBody>
      </p:sp>
      <p:sp>
        <p:nvSpPr>
          <p:cNvPr id="22" name="Text 19"/>
          <p:cNvSpPr/>
          <p:nvPr/>
        </p:nvSpPr>
        <p:spPr>
          <a:xfrm>
            <a:off x="3346704" y="5010912"/>
            <a:ext cx="1947672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1E"/>
          </a:solidFill>
          <a:ln w="12700">
            <a:solidFill>
              <a:srgbClr val="0612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832104"/>
            <a:ext cx="1874520" cy="0"/>
          </a:xfrm>
          <a:prstGeom prst="line">
            <a:avLst/>
          </a:prstGeom>
          <a:noFill/>
          <a:ln w="38100">
            <a:solidFill>
              <a:srgbClr val="21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638197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7C6D8"/>
                </a:solidFill>
              </a:rPr>
              <a:t>Smart grids need accurate short-term energy forecasts to avoid overload and wastage.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84264" y="1106424"/>
            <a:ext cx="4873752" cy="4782312"/>
          </a:xfrm>
          <a:prstGeom prst="roundRect">
            <a:avLst>
              <a:gd name="adj" fmla="val 1530"/>
            </a:avLst>
          </a:prstGeom>
          <a:solidFill>
            <a:srgbClr val="102A42"/>
          </a:solidFill>
          <a:ln w="12700">
            <a:solidFill>
              <a:srgbClr val="34C7FF">
                <a:alpha val="50000"/>
              </a:srgbClr>
            </a:solidFill>
            <a:prstDash val="solid"/>
          </a:ln>
          <a:effectLst>
            <a:outerShdw blurRad="20320" dist="1016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7" name="Image 0" descr="/mnt/data/a_high_tech_dark_themed_dashboard_ui_scene_overal_batch_3.png"/>
          <p:cNvPicPr>
            <a:picLocks noChangeAspect="1"/>
          </p:cNvPicPr>
          <p:nvPr/>
        </p:nvPicPr>
        <p:blipFill>
          <a:blip r:embed="rId3"/>
          <a:srcRect l="21314" r="21314"/>
          <a:stretch/>
        </p:blipFill>
        <p:spPr>
          <a:xfrm>
            <a:off x="6720840" y="1143000"/>
            <a:ext cx="4800600" cy="4709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7512" y="1298448"/>
            <a:ext cx="5623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F6FAFF"/>
                </a:solidFill>
              </a:rPr>
              <a:t>Electricity demand is not constant. It changes every hour based on weather, time, weekday/weekend behavior, holidays, and previous consumption patterns. Manual estimation can miss sudden peaks and hidden relationships in data.</a:t>
            </a:r>
            <a:endParaRPr lang="en-US" sz="1820" dirty="0"/>
          </a:p>
        </p:txBody>
      </p:sp>
      <p:sp>
        <p:nvSpPr>
          <p:cNvPr id="9" name="Shape 6"/>
          <p:cNvSpPr/>
          <p:nvPr/>
        </p:nvSpPr>
        <p:spPr>
          <a:xfrm>
            <a:off x="685800" y="265176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0B2033">
              <a:alpha val="97000"/>
            </a:srgbClr>
          </a:solidFill>
          <a:ln w="12700">
            <a:solidFill>
              <a:srgbClr val="FF5E6C">
                <a:alpha val="82000"/>
              </a:srgbClr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32104" y="2770632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FF5E6C"/>
                </a:solidFill>
              </a:rPr>
              <a:t>Demand uncertainty</a:t>
            </a:r>
            <a:endParaRPr lang="en-US" sz="1480" dirty="0"/>
          </a:p>
        </p:txBody>
      </p:sp>
      <p:sp>
        <p:nvSpPr>
          <p:cNvPr id="11" name="Text 8"/>
          <p:cNvSpPr/>
          <p:nvPr/>
        </p:nvSpPr>
        <p:spPr>
          <a:xfrm>
            <a:off x="832104" y="3090672"/>
            <a:ext cx="1490472" cy="8412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320" dirty="0">
                <a:solidFill>
                  <a:srgbClr val="F6FAFF"/>
                </a:solidFill>
              </a:rPr>
              <a:t>Sudden spikes during evenings or hot weather can create overload risk.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2743200" y="265176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0B2033">
              <a:alpha val="97000"/>
            </a:srgbClr>
          </a:solidFill>
          <a:ln w="12700">
            <a:solidFill>
              <a:srgbClr val="FFD166">
                <a:alpha val="82000"/>
              </a:srgbClr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889504" y="2770632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FFD166"/>
                </a:solidFill>
              </a:rPr>
              <a:t>Energy wastage</a:t>
            </a:r>
            <a:endParaRPr lang="en-US" sz="1480" dirty="0"/>
          </a:p>
        </p:txBody>
      </p:sp>
      <p:sp>
        <p:nvSpPr>
          <p:cNvPr id="14" name="Text 11"/>
          <p:cNvSpPr/>
          <p:nvPr/>
        </p:nvSpPr>
        <p:spPr>
          <a:xfrm>
            <a:off x="2889504" y="3090672"/>
            <a:ext cx="1490472" cy="8412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320" dirty="0">
                <a:solidFill>
                  <a:srgbClr val="F6FAFF"/>
                </a:solidFill>
              </a:rPr>
              <a:t>Over-generation increases operational cost and resource waste.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4800600" y="265176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0B2033">
              <a:alpha val="97000"/>
            </a:srgbClr>
          </a:solidFill>
          <a:ln w="12700">
            <a:solidFill>
              <a:srgbClr val="21D4B4">
                <a:alpha val="82000"/>
              </a:srgbClr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946904" y="2770632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21D4B4"/>
                </a:solidFill>
              </a:rPr>
              <a:t>Late response</a:t>
            </a:r>
            <a:endParaRPr lang="en-US" sz="1480" dirty="0"/>
          </a:p>
        </p:txBody>
      </p:sp>
      <p:sp>
        <p:nvSpPr>
          <p:cNvPr id="17" name="Text 14"/>
          <p:cNvSpPr/>
          <p:nvPr/>
        </p:nvSpPr>
        <p:spPr>
          <a:xfrm>
            <a:off x="4946904" y="3090672"/>
            <a:ext cx="1490472" cy="8412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320" dirty="0">
                <a:solidFill>
                  <a:srgbClr val="F6FAFF"/>
                </a:solidFill>
              </a:rPr>
              <a:t>Without early alerts, operators react only after demand becomes critical.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749808" y="4617720"/>
            <a:ext cx="5623560" cy="822960"/>
          </a:xfrm>
          <a:prstGeom prst="roundRect">
            <a:avLst>
              <a:gd name="adj" fmla="val 6667"/>
            </a:avLst>
          </a:prstGeom>
          <a:solidFill>
            <a:srgbClr val="0A1A2A">
              <a:alpha val="95000"/>
            </a:srgbClr>
          </a:solidFill>
          <a:ln w="10160">
            <a:solidFill>
              <a:srgbClr val="74E36A">
                <a:alpha val="7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7824" y="4727448"/>
            <a:ext cx="5367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6FAFF"/>
                </a:solidFill>
              </a:rPr>
              <a:t>Project need: Build a forecasting system that predicts upcoming electricity demand, classifies demand risk, and gives simple decision-support outputs before peak periods occur.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1E"/>
          </a:solidFill>
          <a:ln w="12700">
            <a:solidFill>
              <a:srgbClr val="0612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832104"/>
            <a:ext cx="1874520" cy="0"/>
          </a:xfrm>
          <a:prstGeom prst="line">
            <a:avLst/>
          </a:prstGeom>
          <a:noFill/>
          <a:ln w="38100">
            <a:solidFill>
              <a:srgbClr val="21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23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7C6D8"/>
                </a:solidFill>
              </a:rPr>
              <a:t>Focused goals for the project implementation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98664" y="1197864"/>
            <a:ext cx="3822192" cy="2130552"/>
          </a:xfrm>
          <a:prstGeom prst="roundRect">
            <a:avLst>
              <a:gd name="adj" fmla="val 3433"/>
            </a:avLst>
          </a:prstGeom>
          <a:solidFill>
            <a:srgbClr val="102A42"/>
          </a:solidFill>
          <a:ln w="12700">
            <a:solidFill>
              <a:srgbClr val="34C7FF">
                <a:alpha val="50000"/>
              </a:srgbClr>
            </a:solidFill>
            <a:prstDash val="solid"/>
          </a:ln>
          <a:effectLst>
            <a:outerShdw blurRad="20320" dist="1016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7" name="Image 0" descr="/mnt/data/a_wide_cinematic_futuristic_energy_technology_co_batch_1.png"/>
          <p:cNvPicPr>
            <a:picLocks noChangeAspect="1"/>
          </p:cNvPicPr>
          <p:nvPr/>
        </p:nvPicPr>
        <p:blipFill>
          <a:blip r:embed="rId3"/>
          <a:srcRect t="1245" b="1245"/>
          <a:stretch/>
        </p:blipFill>
        <p:spPr>
          <a:xfrm>
            <a:off x="7635240" y="1234440"/>
            <a:ext cx="3749040" cy="2057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98664" y="3712464"/>
            <a:ext cx="3822192" cy="2221992"/>
          </a:xfrm>
          <a:prstGeom prst="roundRect">
            <a:avLst>
              <a:gd name="adj" fmla="val 3292"/>
            </a:avLst>
          </a:prstGeom>
          <a:solidFill>
            <a:srgbClr val="102A42"/>
          </a:solidFill>
          <a:ln w="12700">
            <a:solidFill>
              <a:srgbClr val="34C7FF">
                <a:alpha val="50000"/>
              </a:srgbClr>
            </a:solidFill>
            <a:prstDash val="solid"/>
          </a:ln>
          <a:effectLst>
            <a:outerShdw blurRad="20320" dist="1016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9" name="Image 1" descr="/mnt/data/a_high_tech_dark_themed_dashboard_ui_scene_overal_batch_3.png"/>
          <p:cNvPicPr>
            <a:picLocks noChangeAspect="1"/>
          </p:cNvPicPr>
          <p:nvPr/>
        </p:nvPicPr>
        <p:blipFill>
          <a:blip r:embed="rId4"/>
          <a:srcRect l="905" r="905"/>
          <a:stretch/>
        </p:blipFill>
        <p:spPr>
          <a:xfrm>
            <a:off x="7635240" y="3749040"/>
            <a:ext cx="3749040" cy="21488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85800" y="1234440"/>
            <a:ext cx="3063240" cy="950976"/>
          </a:xfrm>
          <a:prstGeom prst="roundRect">
            <a:avLst>
              <a:gd name="adj" fmla="val 7692"/>
            </a:avLst>
          </a:prstGeom>
          <a:solidFill>
            <a:srgbClr val="0B2033">
              <a:alpha val="97000"/>
            </a:srgbClr>
          </a:solidFill>
          <a:ln w="12700">
            <a:solidFill>
              <a:srgbClr val="34C7FF">
                <a:alpha val="82000"/>
              </a:srgbClr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32104" y="1353312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34C7FF"/>
                </a:solidFill>
              </a:rPr>
              <a:t>1. Forecast demand</a:t>
            </a:r>
            <a:endParaRPr lang="en-US" sz="1480" dirty="0"/>
          </a:p>
        </p:txBody>
      </p:sp>
      <p:sp>
        <p:nvSpPr>
          <p:cNvPr id="12" name="Text 8"/>
          <p:cNvSpPr/>
          <p:nvPr/>
        </p:nvSpPr>
        <p:spPr>
          <a:xfrm>
            <a:off x="832104" y="1673352"/>
            <a:ext cx="2770632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350" dirty="0">
                <a:solidFill>
                  <a:srgbClr val="F6FAFF"/>
                </a:solidFill>
              </a:rPr>
              <a:t>Predict next-hour and next-24-hour electricity demand using historical and weather-based features.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005072" y="1234440"/>
            <a:ext cx="3063240" cy="950976"/>
          </a:xfrm>
          <a:prstGeom prst="roundRect">
            <a:avLst>
              <a:gd name="adj" fmla="val 7692"/>
            </a:avLst>
          </a:prstGeom>
          <a:solidFill>
            <a:srgbClr val="0B2033">
              <a:alpha val="97000"/>
            </a:srgbClr>
          </a:solidFill>
          <a:ln w="12700">
            <a:solidFill>
              <a:srgbClr val="21D4B4">
                <a:alpha val="82000"/>
              </a:srgbClr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151376" y="1353312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21D4B4"/>
                </a:solidFill>
              </a:rPr>
              <a:t>2. Classify grid risk</a:t>
            </a:r>
            <a:endParaRPr lang="en-US" sz="1480" dirty="0"/>
          </a:p>
        </p:txBody>
      </p:sp>
      <p:sp>
        <p:nvSpPr>
          <p:cNvPr id="15" name="Text 11"/>
          <p:cNvSpPr/>
          <p:nvPr/>
        </p:nvSpPr>
        <p:spPr>
          <a:xfrm>
            <a:off x="4151376" y="1673352"/>
            <a:ext cx="2770632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350" dirty="0">
                <a:solidFill>
                  <a:srgbClr val="F6FAFF"/>
                </a:solidFill>
              </a:rPr>
              <a:t>Convert predicted demand into Low, Normal, High, or Critical levels for easy understanding.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85800" y="2532888"/>
            <a:ext cx="3063240" cy="950976"/>
          </a:xfrm>
          <a:prstGeom prst="roundRect">
            <a:avLst>
              <a:gd name="adj" fmla="val 7692"/>
            </a:avLst>
          </a:prstGeom>
          <a:solidFill>
            <a:srgbClr val="0B2033">
              <a:alpha val="97000"/>
            </a:srgbClr>
          </a:solidFill>
          <a:ln w="12700">
            <a:solidFill>
              <a:srgbClr val="74E36A">
                <a:alpha val="82000"/>
              </a:srgbClr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32104" y="2651760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74E36A"/>
                </a:solidFill>
              </a:rPr>
              <a:t>3. Detect peak conditions</a:t>
            </a:r>
            <a:endParaRPr lang="en-US" sz="1480" dirty="0"/>
          </a:p>
        </p:txBody>
      </p:sp>
      <p:sp>
        <p:nvSpPr>
          <p:cNvPr id="18" name="Text 14"/>
          <p:cNvSpPr/>
          <p:nvPr/>
        </p:nvSpPr>
        <p:spPr>
          <a:xfrm>
            <a:off x="832104" y="2971800"/>
            <a:ext cx="2770632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350" dirty="0">
                <a:solidFill>
                  <a:srgbClr val="F6FAFF"/>
                </a:solidFill>
              </a:rPr>
              <a:t>Generate alerts when predicted demand crosses dynamic threshold or rises too quickly.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4005072" y="2532888"/>
            <a:ext cx="3063240" cy="950976"/>
          </a:xfrm>
          <a:prstGeom prst="roundRect">
            <a:avLst>
              <a:gd name="adj" fmla="val 7692"/>
            </a:avLst>
          </a:prstGeom>
          <a:solidFill>
            <a:srgbClr val="0B2033">
              <a:alpha val="97000"/>
            </a:srgbClr>
          </a:solidFill>
          <a:ln w="12700">
            <a:solidFill>
              <a:srgbClr val="FFD166">
                <a:alpha val="82000"/>
              </a:srgbClr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151376" y="2651760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FFD166"/>
                </a:solidFill>
              </a:rPr>
              <a:t>4. Compare ML models</a:t>
            </a:r>
            <a:endParaRPr lang="en-US" sz="1480" dirty="0"/>
          </a:p>
        </p:txBody>
      </p:sp>
      <p:sp>
        <p:nvSpPr>
          <p:cNvPr id="21" name="Text 17"/>
          <p:cNvSpPr/>
          <p:nvPr/>
        </p:nvSpPr>
        <p:spPr>
          <a:xfrm>
            <a:off x="4151376" y="2971800"/>
            <a:ext cx="2770632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350" dirty="0">
                <a:solidFill>
                  <a:srgbClr val="F6FAFF"/>
                </a:solidFill>
              </a:rPr>
              <a:t>Train linear and tree-based models, evaluate them, and select the best performer.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685800" y="3831336"/>
            <a:ext cx="3063240" cy="950976"/>
          </a:xfrm>
          <a:prstGeom prst="roundRect">
            <a:avLst>
              <a:gd name="adj" fmla="val 7692"/>
            </a:avLst>
          </a:prstGeom>
          <a:solidFill>
            <a:srgbClr val="0B2033">
              <a:alpha val="97000"/>
            </a:srgbClr>
          </a:solidFill>
          <a:ln w="12700">
            <a:solidFill>
              <a:srgbClr val="34C7FF">
                <a:alpha val="82000"/>
              </a:srgbClr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832104" y="3950208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34C7FF"/>
                </a:solidFill>
              </a:rPr>
              <a:t>5. Explain predictions</a:t>
            </a:r>
            <a:endParaRPr lang="en-US" sz="1480" dirty="0"/>
          </a:p>
        </p:txBody>
      </p:sp>
      <p:sp>
        <p:nvSpPr>
          <p:cNvPr id="24" name="Text 20"/>
          <p:cNvSpPr/>
          <p:nvPr/>
        </p:nvSpPr>
        <p:spPr>
          <a:xfrm>
            <a:off x="832104" y="4270248"/>
            <a:ext cx="2770632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350" dirty="0">
                <a:solidFill>
                  <a:srgbClr val="F6FAFF"/>
                </a:solidFill>
              </a:rPr>
              <a:t>Show important factors such as hour, temperature, weekday and previous demand.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4005072" y="3831336"/>
            <a:ext cx="3063240" cy="950976"/>
          </a:xfrm>
          <a:prstGeom prst="roundRect">
            <a:avLst>
              <a:gd name="adj" fmla="val 7692"/>
            </a:avLst>
          </a:prstGeom>
          <a:solidFill>
            <a:srgbClr val="0B2033">
              <a:alpha val="97000"/>
            </a:srgbClr>
          </a:solidFill>
          <a:ln w="12700">
            <a:solidFill>
              <a:srgbClr val="21D4B4">
                <a:alpha val="82000"/>
              </a:srgbClr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4151376" y="3950208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21D4B4"/>
                </a:solidFill>
              </a:rPr>
              <a:t>6. Build working app</a:t>
            </a:r>
            <a:endParaRPr lang="en-US" sz="1480" dirty="0"/>
          </a:p>
        </p:txBody>
      </p:sp>
      <p:sp>
        <p:nvSpPr>
          <p:cNvPr id="27" name="Text 23"/>
          <p:cNvSpPr/>
          <p:nvPr/>
        </p:nvSpPr>
        <p:spPr>
          <a:xfrm>
            <a:off x="4151376" y="4270248"/>
            <a:ext cx="2770632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350" dirty="0">
                <a:solidFill>
                  <a:srgbClr val="F6FAFF"/>
                </a:solidFill>
              </a:rPr>
              <a:t>Expose predictions through FastAPI and present them in an interactive dashboard.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749808" y="5532120"/>
            <a:ext cx="6355080" cy="457200"/>
          </a:xfrm>
          <a:prstGeom prst="roundRect">
            <a:avLst>
              <a:gd name="adj" fmla="val 12000"/>
            </a:avLst>
          </a:prstGeom>
          <a:solidFill>
            <a:srgbClr val="0A1A2A">
              <a:alpha val="95000"/>
            </a:srgbClr>
          </a:solidFill>
          <a:ln w="10160">
            <a:solidFill>
              <a:srgbClr val="74E36A">
                <a:alpha val="70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77824" y="5641848"/>
            <a:ext cx="6099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6FAFF"/>
                </a:solidFill>
              </a:rPr>
              <a:t>Unique additions: What-if simulator + Grid Stress Score + Similar-day comparison.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1E"/>
          </a:solidFill>
          <a:ln w="12700">
            <a:solidFill>
              <a:srgbClr val="0612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832104"/>
            <a:ext cx="1874520" cy="0"/>
          </a:xfrm>
          <a:prstGeom prst="line">
            <a:avLst/>
          </a:prstGeom>
          <a:noFill/>
          <a:ln w="38100">
            <a:solidFill>
              <a:srgbClr val="21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23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7C6D8"/>
                </a:solidFill>
              </a:rPr>
              <a:t>Tools selected for each stage of the ML lifecycle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72584" y="1188720"/>
            <a:ext cx="6702552" cy="4572000"/>
          </a:xfrm>
          <a:prstGeom prst="roundRect">
            <a:avLst>
              <a:gd name="adj" fmla="val 1600"/>
            </a:avLst>
          </a:prstGeom>
          <a:solidFill>
            <a:srgbClr val="102A42"/>
          </a:solidFill>
          <a:ln w="12700">
            <a:solidFill>
              <a:srgbClr val="34C7FF">
                <a:alpha val="50000"/>
              </a:srgbClr>
            </a:solidFill>
            <a:prstDash val="solid"/>
          </a:ln>
          <a:effectLst>
            <a:outerShdw blurRad="20320" dist="1016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7" name="Image 0" descr="/mnt/data/a_clean_modern_infographic_diagram_in_a_high_tech_batch_2.png"/>
          <p:cNvPicPr>
            <a:picLocks noChangeAspect="1"/>
          </p:cNvPicPr>
          <p:nvPr/>
        </p:nvPicPr>
        <p:blipFill>
          <a:blip r:embed="rId3"/>
          <a:srcRect l="8534" r="8534"/>
          <a:stretch/>
        </p:blipFill>
        <p:spPr>
          <a:xfrm>
            <a:off x="4709160" y="1225296"/>
            <a:ext cx="6629400" cy="44988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261872"/>
            <a:ext cx="3383280" cy="841248"/>
          </a:xfrm>
          <a:prstGeom prst="roundRect">
            <a:avLst>
              <a:gd name="adj" fmla="val 8696"/>
            </a:avLst>
          </a:prstGeom>
          <a:solidFill>
            <a:srgbClr val="0B2033">
              <a:alpha val="97000"/>
            </a:srgbClr>
          </a:solidFill>
          <a:ln w="12700">
            <a:solidFill>
              <a:srgbClr val="34C7FF">
                <a:alpha val="82000"/>
              </a:srgbClr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32104" y="138074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34C7FF"/>
                </a:solidFill>
              </a:rPr>
              <a:t>Data Processing</a:t>
            </a:r>
            <a:endParaRPr lang="en-US" sz="1480" dirty="0"/>
          </a:p>
        </p:txBody>
      </p:sp>
      <p:sp>
        <p:nvSpPr>
          <p:cNvPr id="10" name="Text 7"/>
          <p:cNvSpPr/>
          <p:nvPr/>
        </p:nvSpPr>
        <p:spPr>
          <a:xfrm>
            <a:off x="832104" y="1700784"/>
            <a:ext cx="3090672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80" dirty="0">
                <a:solidFill>
                  <a:srgbClr val="F6FAFF"/>
                </a:solidFill>
              </a:rPr>
              <a:t>Python, Pandas, NumPy for cleaning, transformation and feature generation.</a:t>
            </a:r>
            <a:endParaRPr lang="en-US" sz="1280" dirty="0"/>
          </a:p>
        </p:txBody>
      </p:sp>
      <p:sp>
        <p:nvSpPr>
          <p:cNvPr id="11" name="Shape 8"/>
          <p:cNvSpPr/>
          <p:nvPr/>
        </p:nvSpPr>
        <p:spPr>
          <a:xfrm>
            <a:off x="685800" y="2304288"/>
            <a:ext cx="3383280" cy="841248"/>
          </a:xfrm>
          <a:prstGeom prst="roundRect">
            <a:avLst>
              <a:gd name="adj" fmla="val 8696"/>
            </a:avLst>
          </a:prstGeom>
          <a:solidFill>
            <a:srgbClr val="0B2033">
              <a:alpha val="97000"/>
            </a:srgbClr>
          </a:solidFill>
          <a:ln w="12700">
            <a:solidFill>
              <a:srgbClr val="21D4B4">
                <a:alpha val="82000"/>
              </a:srgbClr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32104" y="2304288"/>
            <a:ext cx="30906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21D4B4"/>
                </a:solidFill>
              </a:rPr>
              <a:t>Machine Learning</a:t>
            </a:r>
            <a:endParaRPr lang="en-US" sz="1480" dirty="0"/>
          </a:p>
        </p:txBody>
      </p:sp>
      <p:sp>
        <p:nvSpPr>
          <p:cNvPr id="13" name="Text 10"/>
          <p:cNvSpPr/>
          <p:nvPr/>
        </p:nvSpPr>
        <p:spPr>
          <a:xfrm>
            <a:off x="832104" y="2563906"/>
            <a:ext cx="3236976" cy="49019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80" dirty="0">
                <a:solidFill>
                  <a:srgbClr val="F6FAFF"/>
                </a:solidFill>
              </a:rPr>
              <a:t>Scikit-learn models, Random Forest, Gradient Boosting, XGBoost; Joblib for model saving.</a:t>
            </a:r>
            <a:endParaRPr lang="en-US" sz="1280" dirty="0"/>
          </a:p>
        </p:txBody>
      </p:sp>
      <p:sp>
        <p:nvSpPr>
          <p:cNvPr id="14" name="Shape 11"/>
          <p:cNvSpPr/>
          <p:nvPr/>
        </p:nvSpPr>
        <p:spPr>
          <a:xfrm>
            <a:off x="685800" y="3364992"/>
            <a:ext cx="3383280" cy="841248"/>
          </a:xfrm>
          <a:prstGeom prst="roundRect">
            <a:avLst>
              <a:gd name="adj" fmla="val 8696"/>
            </a:avLst>
          </a:prstGeom>
          <a:solidFill>
            <a:srgbClr val="0B2033">
              <a:alpha val="97000"/>
            </a:srgbClr>
          </a:solidFill>
          <a:ln w="12700">
            <a:solidFill>
              <a:srgbClr val="74E36A">
                <a:alpha val="82000"/>
              </a:srgbClr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32104" y="34655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74E36A"/>
                </a:solidFill>
              </a:rPr>
              <a:t>Backend Service</a:t>
            </a:r>
            <a:endParaRPr lang="en-US" sz="1480" dirty="0"/>
          </a:p>
        </p:txBody>
      </p:sp>
      <p:sp>
        <p:nvSpPr>
          <p:cNvPr id="16" name="Text 13"/>
          <p:cNvSpPr/>
          <p:nvPr/>
        </p:nvSpPr>
        <p:spPr>
          <a:xfrm>
            <a:off x="832104" y="3785616"/>
            <a:ext cx="3090672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80" dirty="0">
                <a:solidFill>
                  <a:srgbClr val="F6FAFF"/>
                </a:solidFill>
              </a:rPr>
              <a:t>FastAPI, Pydantic validation, Uvicorn server and REST endpoints.</a:t>
            </a:r>
            <a:endParaRPr lang="en-US" sz="1280" dirty="0"/>
          </a:p>
        </p:txBody>
      </p:sp>
      <p:sp>
        <p:nvSpPr>
          <p:cNvPr id="17" name="Shape 14"/>
          <p:cNvSpPr/>
          <p:nvPr/>
        </p:nvSpPr>
        <p:spPr>
          <a:xfrm>
            <a:off x="685800" y="4389119"/>
            <a:ext cx="3383280" cy="962809"/>
          </a:xfrm>
          <a:prstGeom prst="roundRect">
            <a:avLst>
              <a:gd name="adj" fmla="val 8696"/>
            </a:avLst>
          </a:prstGeom>
          <a:solidFill>
            <a:srgbClr val="0B2033">
              <a:alpha val="97000"/>
            </a:srgbClr>
          </a:solidFill>
          <a:ln w="12700">
            <a:solidFill>
              <a:srgbClr val="FFD166">
                <a:alpha val="82000"/>
              </a:srgbClr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32104" y="450799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FFD166"/>
                </a:solidFill>
              </a:rPr>
              <a:t>Dashboard &amp; Storage</a:t>
            </a:r>
            <a:endParaRPr lang="en-US" sz="1480" dirty="0"/>
          </a:p>
        </p:txBody>
      </p:sp>
      <p:sp>
        <p:nvSpPr>
          <p:cNvPr id="19" name="Text 16"/>
          <p:cNvSpPr/>
          <p:nvPr/>
        </p:nvSpPr>
        <p:spPr>
          <a:xfrm>
            <a:off x="832104" y="4828032"/>
            <a:ext cx="3090672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80" dirty="0">
                <a:solidFill>
                  <a:srgbClr val="F6FAFF"/>
                </a:solidFill>
              </a:rPr>
              <a:t>React + Recharts for UI; SQLite/PostgreSQL for prediction history.</a:t>
            </a:r>
            <a:endParaRPr lang="en-US" sz="1280" dirty="0"/>
          </a:p>
        </p:txBody>
      </p:sp>
      <p:sp>
        <p:nvSpPr>
          <p:cNvPr id="20" name="Shape 17"/>
          <p:cNvSpPr/>
          <p:nvPr/>
        </p:nvSpPr>
        <p:spPr>
          <a:xfrm>
            <a:off x="4892040" y="5806440"/>
            <a:ext cx="6309360" cy="438912"/>
          </a:xfrm>
          <a:prstGeom prst="roundRect">
            <a:avLst>
              <a:gd name="adj" fmla="val 12500"/>
            </a:avLst>
          </a:prstGeom>
          <a:solidFill>
            <a:srgbClr val="0A1A2A">
              <a:alpha val="95000"/>
            </a:srgbClr>
          </a:solidFill>
          <a:ln w="10160">
            <a:solidFill>
              <a:srgbClr val="34C7FF">
                <a:alpha val="7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0056" y="5916168"/>
            <a:ext cx="6053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6FAFF"/>
                </a:solidFill>
              </a:rPr>
              <a:t>Optional tracking: MLflow can store model versions, parameters, metrics and artifacts.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1E"/>
          </a:solidFill>
          <a:ln w="12700">
            <a:solidFill>
              <a:srgbClr val="0612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Outcome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832104"/>
            <a:ext cx="1874520" cy="0"/>
          </a:xfrm>
          <a:prstGeom prst="line">
            <a:avLst/>
          </a:prstGeom>
          <a:noFill/>
          <a:ln w="38100">
            <a:solidFill>
              <a:srgbClr val="21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23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7C6D8"/>
                </a:solidFill>
              </a:rPr>
              <a:t>Final deliverables after implementation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28816" y="1115568"/>
            <a:ext cx="4965192" cy="4809744"/>
          </a:xfrm>
          <a:prstGeom prst="roundRect">
            <a:avLst>
              <a:gd name="adj" fmla="val 1521"/>
            </a:avLst>
          </a:prstGeom>
          <a:solidFill>
            <a:srgbClr val="102A42"/>
          </a:solidFill>
          <a:ln w="12700">
            <a:solidFill>
              <a:srgbClr val="34C7FF">
                <a:alpha val="50000"/>
              </a:srgbClr>
            </a:solidFill>
            <a:prstDash val="solid"/>
          </a:ln>
          <a:effectLst>
            <a:outerShdw blurRad="20320" dist="1016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7" name="Image 0" descr="/mnt/data/a_high_tech_dark_themed_dashboard_ui_scene_overal_batch_3.png"/>
          <p:cNvPicPr>
            <a:picLocks noChangeAspect="1"/>
          </p:cNvPicPr>
          <p:nvPr/>
        </p:nvPicPr>
        <p:blipFill>
          <a:blip r:embed="rId3"/>
          <a:srcRect l="20937" r="20937"/>
          <a:stretch/>
        </p:blipFill>
        <p:spPr>
          <a:xfrm>
            <a:off x="6565392" y="1152144"/>
            <a:ext cx="4892040" cy="47365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7512" y="1261872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6FAFF"/>
                </a:solidFill>
              </a:rPr>
              <a:t>The final output will be a working ML prototype that takes grid/weather inputs, predicts electricity demand, classifies risk, and presents alerts and charts to the user.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685800" y="2386584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B2033">
              <a:alpha val="97000"/>
            </a:srgbClr>
          </a:solidFill>
          <a:ln w="12700">
            <a:solidFill>
              <a:srgbClr val="34C7FF">
                <a:alpha val="82000"/>
              </a:srgbClr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32104" y="2377440"/>
            <a:ext cx="2313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34C7FF"/>
                </a:solidFill>
              </a:rPr>
              <a:t>Forecast Output</a:t>
            </a:r>
            <a:endParaRPr lang="en-US" sz="1480" dirty="0"/>
          </a:p>
        </p:txBody>
      </p:sp>
      <p:sp>
        <p:nvSpPr>
          <p:cNvPr id="11" name="Text 8"/>
          <p:cNvSpPr/>
          <p:nvPr/>
        </p:nvSpPr>
        <p:spPr>
          <a:xfrm>
            <a:off x="832104" y="2816352"/>
            <a:ext cx="231343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300" dirty="0">
                <a:solidFill>
                  <a:srgbClr val="F6FAFF"/>
                </a:solidFill>
              </a:rPr>
              <a:t>Numerical demand prediction for next hour and 24-hour demand curve.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11880" y="23774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B2033">
              <a:alpha val="97000"/>
            </a:srgbClr>
          </a:solidFill>
          <a:ln w="12700">
            <a:solidFill>
              <a:srgbClr val="74E36A">
                <a:alpha val="82000"/>
              </a:srgbClr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758184" y="249631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74E36A"/>
                </a:solidFill>
              </a:rPr>
              <a:t>Risk Output</a:t>
            </a:r>
            <a:endParaRPr lang="en-US" sz="1480" dirty="0"/>
          </a:p>
        </p:txBody>
      </p:sp>
      <p:sp>
        <p:nvSpPr>
          <p:cNvPr id="14" name="Text 11"/>
          <p:cNvSpPr/>
          <p:nvPr/>
        </p:nvSpPr>
        <p:spPr>
          <a:xfrm>
            <a:off x="3758184" y="2816352"/>
            <a:ext cx="26060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r>
              <a:rPr lang="en-US" sz="1300" dirty="0">
                <a:solidFill>
                  <a:srgbClr val="F6FAFF"/>
                </a:solidFill>
              </a:rPr>
              <a:t>Demand category, peak alert and Grid Stress Score from 0 to 100.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85800" y="36118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B2033">
              <a:alpha val="97000"/>
            </a:srgbClr>
          </a:solidFill>
          <a:ln w="12700">
            <a:solidFill>
              <a:srgbClr val="FFD166">
                <a:alpha val="82000"/>
              </a:srgbClr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32104" y="373075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FFD166"/>
                </a:solidFill>
              </a:rPr>
              <a:t>ML Output</a:t>
            </a:r>
            <a:endParaRPr lang="en-US" sz="1480" dirty="0"/>
          </a:p>
        </p:txBody>
      </p:sp>
      <p:sp>
        <p:nvSpPr>
          <p:cNvPr id="17" name="Text 14"/>
          <p:cNvSpPr/>
          <p:nvPr/>
        </p:nvSpPr>
        <p:spPr>
          <a:xfrm>
            <a:off x="832104" y="4050792"/>
            <a:ext cx="231343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300" dirty="0">
                <a:solidFill>
                  <a:srgbClr val="F6FAFF"/>
                </a:solidFill>
              </a:rPr>
              <a:t>Best model selection based on MAE, RMSE, MAPE and R².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611880" y="36118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B2033">
              <a:alpha val="97000"/>
            </a:srgbClr>
          </a:solidFill>
          <a:ln w="12700">
            <a:solidFill>
              <a:srgbClr val="21D4B4">
                <a:alpha val="82000"/>
              </a:srgbClr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758184" y="373075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21D4B4"/>
                </a:solidFill>
              </a:rPr>
              <a:t>App Output</a:t>
            </a:r>
            <a:endParaRPr lang="en-US" sz="1480" dirty="0"/>
          </a:p>
        </p:txBody>
      </p:sp>
      <p:sp>
        <p:nvSpPr>
          <p:cNvPr id="20" name="Text 17"/>
          <p:cNvSpPr/>
          <p:nvPr/>
        </p:nvSpPr>
        <p:spPr>
          <a:xfrm>
            <a:off x="3758184" y="4050792"/>
            <a:ext cx="231343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300" dirty="0">
                <a:solidFill>
                  <a:srgbClr val="F6FAFF"/>
                </a:solidFill>
              </a:rPr>
              <a:t>FastAPI endpoint, dashboard graphs and stored prediction history.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31520" y="5074920"/>
            <a:ext cx="5440680" cy="777240"/>
          </a:xfrm>
          <a:prstGeom prst="roundRect">
            <a:avLst>
              <a:gd name="adj" fmla="val 7059"/>
            </a:avLst>
          </a:prstGeom>
          <a:solidFill>
            <a:srgbClr val="0A1A2A">
              <a:alpha val="95000"/>
            </a:srgbClr>
          </a:solidFill>
          <a:ln w="10160">
            <a:solidFill>
              <a:srgbClr val="74E36A">
                <a:alpha val="7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9536" y="5184648"/>
            <a:ext cx="5184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F6FAFF"/>
                </a:solidFill>
              </a:rPr>
              <a:t>Example demo: Enter timestamp, temperature, humidity and previous demand → system predicts demand → shows High/Critical alert, main reason and forecast chart.</a:t>
            </a:r>
            <a:endParaRPr lang="en-US" sz="14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1E"/>
          </a:solidFill>
          <a:ln w="12700">
            <a:solidFill>
              <a:srgbClr val="0612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832104"/>
            <a:ext cx="1874520" cy="0"/>
          </a:xfrm>
          <a:prstGeom prst="line">
            <a:avLst/>
          </a:prstGeom>
          <a:noFill/>
          <a:ln w="38100">
            <a:solidFill>
              <a:srgbClr val="21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23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7C6D8"/>
                </a:solidFill>
              </a:rPr>
              <a:t>Clean module-wise breakdown for development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76656" y="4919472"/>
            <a:ext cx="10817352" cy="1399032"/>
          </a:xfrm>
          <a:prstGeom prst="roundRect">
            <a:avLst>
              <a:gd name="adj" fmla="val 5229"/>
            </a:avLst>
          </a:prstGeom>
          <a:solidFill>
            <a:srgbClr val="102A42"/>
          </a:solidFill>
          <a:ln w="12700">
            <a:solidFill>
              <a:srgbClr val="34C7FF">
                <a:alpha val="50000"/>
              </a:srgbClr>
            </a:solidFill>
            <a:prstDash val="solid"/>
          </a:ln>
          <a:effectLst>
            <a:outerShdw blurRad="20320" dist="1016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7" name="Image 0" descr="/mnt/data/a_clean_modern_infographic_diagram_in_a_high_tech_batch_2.png"/>
          <p:cNvPicPr>
            <a:picLocks noChangeAspect="1"/>
          </p:cNvPicPr>
          <p:nvPr/>
        </p:nvPicPr>
        <p:blipFill>
          <a:blip r:embed="rId3"/>
          <a:srcRect t="39037" b="39037"/>
          <a:stretch/>
        </p:blipFill>
        <p:spPr>
          <a:xfrm>
            <a:off x="713232" y="4956048"/>
            <a:ext cx="10744200" cy="1325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0352" y="1234440"/>
            <a:ext cx="2084832" cy="2468880"/>
          </a:xfrm>
          <a:prstGeom prst="roundRect">
            <a:avLst>
              <a:gd name="adj" fmla="val 3509"/>
            </a:avLst>
          </a:prstGeom>
          <a:solidFill>
            <a:srgbClr val="0B2033">
              <a:alpha val="97000"/>
            </a:srgbClr>
          </a:solidFill>
          <a:ln w="12700">
            <a:solidFill>
              <a:srgbClr val="34C7FF">
                <a:alpha val="82000"/>
              </a:srgbClr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76656" y="135331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34C7FF"/>
                </a:solidFill>
              </a:rPr>
              <a:t>1. Data Module</a:t>
            </a:r>
            <a:endParaRPr lang="en-US" sz="1480" dirty="0"/>
          </a:p>
        </p:txBody>
      </p:sp>
      <p:sp>
        <p:nvSpPr>
          <p:cNvPr id="10" name="Text 7"/>
          <p:cNvSpPr/>
          <p:nvPr/>
        </p:nvSpPr>
        <p:spPr>
          <a:xfrm>
            <a:off x="676656" y="1673352"/>
            <a:ext cx="1792224" cy="19385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70" dirty="0">
                <a:solidFill>
                  <a:srgbClr val="F6FAFF"/>
                </a:solidFill>
              </a:rPr>
              <a:t>Collect/load dataset with timestamp, energy demand, temperature, humidity and holiday/weekend indicators.</a:t>
            </a:r>
            <a:endParaRPr lang="en-US" sz="1270" dirty="0"/>
          </a:p>
        </p:txBody>
      </p:sp>
      <p:sp>
        <p:nvSpPr>
          <p:cNvPr id="11" name="Shape 8"/>
          <p:cNvSpPr/>
          <p:nvPr/>
        </p:nvSpPr>
        <p:spPr>
          <a:xfrm>
            <a:off x="2871216" y="1234440"/>
            <a:ext cx="2084832" cy="2468880"/>
          </a:xfrm>
          <a:prstGeom prst="roundRect">
            <a:avLst>
              <a:gd name="adj" fmla="val 3509"/>
            </a:avLst>
          </a:prstGeom>
          <a:solidFill>
            <a:srgbClr val="0B2033">
              <a:alpha val="97000"/>
            </a:srgbClr>
          </a:solidFill>
          <a:ln w="12700">
            <a:solidFill>
              <a:srgbClr val="21D4B4">
                <a:alpha val="82000"/>
              </a:srgbClr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017520" y="135331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21D4B4"/>
                </a:solidFill>
              </a:rPr>
              <a:t>2. Preprocessing</a:t>
            </a:r>
            <a:endParaRPr lang="en-US" sz="1480" dirty="0"/>
          </a:p>
        </p:txBody>
      </p:sp>
      <p:sp>
        <p:nvSpPr>
          <p:cNvPr id="13" name="Text 10"/>
          <p:cNvSpPr/>
          <p:nvPr/>
        </p:nvSpPr>
        <p:spPr>
          <a:xfrm>
            <a:off x="3017520" y="1673352"/>
            <a:ext cx="1792224" cy="19385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70" dirty="0">
                <a:solidFill>
                  <a:srgbClr val="F6FAFF"/>
                </a:solidFill>
              </a:rPr>
              <a:t>Handle missing values, duplicates, outliers, data types and timestamp conversion.</a:t>
            </a:r>
            <a:endParaRPr lang="en-US" sz="1270" dirty="0"/>
          </a:p>
        </p:txBody>
      </p:sp>
      <p:sp>
        <p:nvSpPr>
          <p:cNvPr id="14" name="Shape 11"/>
          <p:cNvSpPr/>
          <p:nvPr/>
        </p:nvSpPr>
        <p:spPr>
          <a:xfrm>
            <a:off x="5212080" y="1234440"/>
            <a:ext cx="2084832" cy="2468880"/>
          </a:xfrm>
          <a:prstGeom prst="roundRect">
            <a:avLst>
              <a:gd name="adj" fmla="val 3509"/>
            </a:avLst>
          </a:prstGeom>
          <a:solidFill>
            <a:srgbClr val="0B2033">
              <a:alpha val="97000"/>
            </a:srgbClr>
          </a:solidFill>
          <a:ln w="12700">
            <a:solidFill>
              <a:srgbClr val="74E36A">
                <a:alpha val="82000"/>
              </a:srgbClr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358384" y="135331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74E36A"/>
                </a:solidFill>
              </a:rPr>
              <a:t>3. Feature Engineering</a:t>
            </a:r>
            <a:endParaRPr lang="en-US" sz="1480" dirty="0"/>
          </a:p>
        </p:txBody>
      </p:sp>
      <p:sp>
        <p:nvSpPr>
          <p:cNvPr id="16" name="Text 13"/>
          <p:cNvSpPr/>
          <p:nvPr/>
        </p:nvSpPr>
        <p:spPr>
          <a:xfrm>
            <a:off x="5358384" y="1673352"/>
            <a:ext cx="1792224" cy="19385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70" dirty="0">
                <a:solidFill>
                  <a:srgbClr val="F6FAFF"/>
                </a:solidFill>
              </a:rPr>
              <a:t>Create hour, day, month, lag demand, rolling average and peak-hour features.</a:t>
            </a:r>
            <a:endParaRPr lang="en-US" sz="1270" dirty="0"/>
          </a:p>
        </p:txBody>
      </p:sp>
      <p:sp>
        <p:nvSpPr>
          <p:cNvPr id="17" name="Shape 14"/>
          <p:cNvSpPr/>
          <p:nvPr/>
        </p:nvSpPr>
        <p:spPr>
          <a:xfrm>
            <a:off x="7552944" y="1234440"/>
            <a:ext cx="2084832" cy="2468880"/>
          </a:xfrm>
          <a:prstGeom prst="roundRect">
            <a:avLst>
              <a:gd name="adj" fmla="val 3509"/>
            </a:avLst>
          </a:prstGeom>
          <a:solidFill>
            <a:srgbClr val="0B2033">
              <a:alpha val="97000"/>
            </a:srgbClr>
          </a:solidFill>
          <a:ln w="12700">
            <a:solidFill>
              <a:srgbClr val="FFD166">
                <a:alpha val="82000"/>
              </a:srgbClr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699248" y="135331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FFD166"/>
                </a:solidFill>
              </a:rPr>
              <a:t>4. Model Training</a:t>
            </a:r>
            <a:endParaRPr lang="en-US" sz="1480" dirty="0"/>
          </a:p>
        </p:txBody>
      </p:sp>
      <p:sp>
        <p:nvSpPr>
          <p:cNvPr id="19" name="Text 16"/>
          <p:cNvSpPr/>
          <p:nvPr/>
        </p:nvSpPr>
        <p:spPr>
          <a:xfrm>
            <a:off x="7699248" y="1673352"/>
            <a:ext cx="1792224" cy="19385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70" dirty="0">
                <a:solidFill>
                  <a:srgbClr val="F6FAFF"/>
                </a:solidFill>
              </a:rPr>
              <a:t>Train Linear Regression, Random Forest, Gradient Boosting and XGBoost; tune parameters.</a:t>
            </a:r>
            <a:endParaRPr lang="en-US" sz="1270" dirty="0"/>
          </a:p>
        </p:txBody>
      </p:sp>
      <p:sp>
        <p:nvSpPr>
          <p:cNvPr id="20" name="Shape 17"/>
          <p:cNvSpPr/>
          <p:nvPr/>
        </p:nvSpPr>
        <p:spPr>
          <a:xfrm>
            <a:off x="9893808" y="1234440"/>
            <a:ext cx="2084832" cy="2468880"/>
          </a:xfrm>
          <a:prstGeom prst="roundRect">
            <a:avLst>
              <a:gd name="adj" fmla="val 3509"/>
            </a:avLst>
          </a:prstGeom>
          <a:solidFill>
            <a:srgbClr val="0B2033">
              <a:alpha val="97000"/>
            </a:srgbClr>
          </a:solidFill>
          <a:ln w="12700">
            <a:solidFill>
              <a:srgbClr val="34C7FF">
                <a:alpha val="82000"/>
              </a:srgbClr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10040112" y="135331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34C7FF"/>
                </a:solidFill>
              </a:rPr>
              <a:t>5. Prediction App</a:t>
            </a:r>
            <a:endParaRPr lang="en-US" sz="1480" dirty="0"/>
          </a:p>
        </p:txBody>
      </p:sp>
      <p:sp>
        <p:nvSpPr>
          <p:cNvPr id="22" name="Text 19"/>
          <p:cNvSpPr/>
          <p:nvPr/>
        </p:nvSpPr>
        <p:spPr>
          <a:xfrm>
            <a:off x="10040112" y="1673352"/>
            <a:ext cx="1792224" cy="19385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270" dirty="0">
                <a:solidFill>
                  <a:srgbClr val="F6FAFF"/>
                </a:solidFill>
              </a:rPr>
              <a:t>FastAPI endpoints, dashboard, alerts, stress score and prediction-history storage.</a:t>
            </a:r>
            <a:endParaRPr lang="en-US" sz="1270" dirty="0"/>
          </a:p>
        </p:txBody>
      </p:sp>
      <p:sp>
        <p:nvSpPr>
          <p:cNvPr id="23" name="Shape 20"/>
          <p:cNvSpPr/>
          <p:nvPr/>
        </p:nvSpPr>
        <p:spPr>
          <a:xfrm>
            <a:off x="758952" y="3977640"/>
            <a:ext cx="10515600" cy="384048"/>
          </a:xfrm>
          <a:prstGeom prst="roundRect">
            <a:avLst>
              <a:gd name="adj" fmla="val 14286"/>
            </a:avLst>
          </a:prstGeom>
          <a:solidFill>
            <a:srgbClr val="0A1A2A">
              <a:alpha val="95000"/>
            </a:srgbClr>
          </a:solidFill>
          <a:ln w="10160">
            <a:solidFill>
              <a:srgbClr val="74E36A">
                <a:alpha val="7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86968" y="4087368"/>
            <a:ext cx="10259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6FAFF"/>
                </a:solidFill>
              </a:rPr>
              <a:t>Extra logic inside Prediction App: What-if simulator, similar-day comparison and actual-vs-predicted chart.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1E"/>
          </a:solidFill>
          <a:ln w="12700">
            <a:solidFill>
              <a:srgbClr val="0612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832104"/>
            <a:ext cx="1874520" cy="0"/>
          </a:xfrm>
          <a:prstGeom prst="line">
            <a:avLst/>
          </a:prstGeom>
          <a:noFill/>
          <a:ln w="38100">
            <a:solidFill>
              <a:srgbClr val="21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23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7C6D8"/>
                </a:solidFill>
              </a:rPr>
              <a:t>Timeline / Implementation plan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" y="4398264"/>
            <a:ext cx="11000232" cy="1792224"/>
          </a:xfrm>
          <a:prstGeom prst="roundRect">
            <a:avLst>
              <a:gd name="adj" fmla="val 4082"/>
            </a:avLst>
          </a:prstGeom>
          <a:solidFill>
            <a:srgbClr val="102A42"/>
          </a:solidFill>
          <a:ln w="12700">
            <a:solidFill>
              <a:srgbClr val="34C7FF">
                <a:alpha val="50000"/>
              </a:srgbClr>
            </a:solidFill>
            <a:prstDash val="solid"/>
          </a:ln>
          <a:effectLst>
            <a:outerShdw blurRad="20320" dist="1016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7" name="Image 0" descr="/mnt/data/a_futuristic_tech_infographic_scene_a_wide_dark_batch_4.png"/>
          <p:cNvPicPr>
            <a:picLocks noChangeAspect="1"/>
          </p:cNvPicPr>
          <p:nvPr/>
        </p:nvPicPr>
        <p:blipFill>
          <a:blip r:embed="rId3"/>
          <a:srcRect t="36023" b="36023"/>
          <a:stretch/>
        </p:blipFill>
        <p:spPr>
          <a:xfrm>
            <a:off x="640080" y="4434840"/>
            <a:ext cx="10927080" cy="17190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" y="1207008"/>
            <a:ext cx="2468880" cy="2212848"/>
          </a:xfrm>
          <a:prstGeom prst="roundRect">
            <a:avLst>
              <a:gd name="adj" fmla="val 3306"/>
            </a:avLst>
          </a:prstGeom>
          <a:solidFill>
            <a:srgbClr val="0B2033">
              <a:alpha val="97000"/>
            </a:srgbClr>
          </a:solidFill>
          <a:ln w="12700">
            <a:solidFill>
              <a:srgbClr val="34C7FF">
                <a:alpha val="82000"/>
              </a:srgbClr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4672" y="132588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34C7FF"/>
                </a:solidFill>
              </a:rPr>
              <a:t>Task 1</a:t>
            </a:r>
            <a:endParaRPr lang="en-US" sz="1480" dirty="0"/>
          </a:p>
        </p:txBody>
      </p:sp>
      <p:sp>
        <p:nvSpPr>
          <p:cNvPr id="10" name="Text 7"/>
          <p:cNvSpPr/>
          <p:nvPr/>
        </p:nvSpPr>
        <p:spPr>
          <a:xfrm>
            <a:off x="804672" y="1645920"/>
            <a:ext cx="2176272" cy="1682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300" dirty="0">
                <a:solidFill>
                  <a:srgbClr val="F6FAFF"/>
                </a:solidFill>
              </a:rPr>
              <a:t>Finalize dataset, understand columns, clean data, perform EDA and draw demand trend graphs.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511296" y="1207008"/>
            <a:ext cx="2468880" cy="2212848"/>
          </a:xfrm>
          <a:prstGeom prst="roundRect">
            <a:avLst>
              <a:gd name="adj" fmla="val 3306"/>
            </a:avLst>
          </a:prstGeom>
          <a:solidFill>
            <a:srgbClr val="0B2033">
              <a:alpha val="97000"/>
            </a:srgbClr>
          </a:solidFill>
          <a:ln w="12700">
            <a:solidFill>
              <a:srgbClr val="21D4B4">
                <a:alpha val="82000"/>
              </a:srgbClr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57600" y="132588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21D4B4"/>
                </a:solidFill>
              </a:rPr>
              <a:t>Task 2</a:t>
            </a:r>
            <a:endParaRPr lang="en-US" sz="1480" dirty="0"/>
          </a:p>
        </p:txBody>
      </p:sp>
      <p:sp>
        <p:nvSpPr>
          <p:cNvPr id="13" name="Text 10"/>
          <p:cNvSpPr/>
          <p:nvPr/>
        </p:nvSpPr>
        <p:spPr>
          <a:xfrm>
            <a:off x="3657600" y="1645920"/>
            <a:ext cx="2176272" cy="1682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300" dirty="0">
                <a:solidFill>
                  <a:srgbClr val="F6FAFF"/>
                </a:solidFill>
              </a:rPr>
              <a:t>Create time-based, lag and rolling features; train baseline Linear/Ridge Regression models.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64224" y="1207008"/>
            <a:ext cx="2468880" cy="2212848"/>
          </a:xfrm>
          <a:prstGeom prst="roundRect">
            <a:avLst>
              <a:gd name="adj" fmla="val 3306"/>
            </a:avLst>
          </a:prstGeom>
          <a:solidFill>
            <a:srgbClr val="0B2033">
              <a:alpha val="97000"/>
            </a:srgbClr>
          </a:solidFill>
          <a:ln w="12700">
            <a:solidFill>
              <a:srgbClr val="74E36A">
                <a:alpha val="82000"/>
              </a:srgbClr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10528" y="132588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74E36A"/>
                </a:solidFill>
              </a:rPr>
              <a:t>Task 3</a:t>
            </a:r>
            <a:endParaRPr lang="en-US" sz="1480" dirty="0"/>
          </a:p>
        </p:txBody>
      </p:sp>
      <p:sp>
        <p:nvSpPr>
          <p:cNvPr id="16" name="Text 13"/>
          <p:cNvSpPr/>
          <p:nvPr/>
        </p:nvSpPr>
        <p:spPr>
          <a:xfrm>
            <a:off x="6510528" y="1645920"/>
            <a:ext cx="2176272" cy="1682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300" dirty="0">
                <a:solidFill>
                  <a:srgbClr val="F6FAFF"/>
                </a:solidFill>
              </a:rPr>
              <a:t>Train Random Forest, Gradient Boosting and XGBoost; compare metrics and build alerts/stress score.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217152" y="1207008"/>
            <a:ext cx="2468880" cy="2212848"/>
          </a:xfrm>
          <a:prstGeom prst="roundRect">
            <a:avLst>
              <a:gd name="adj" fmla="val 3306"/>
            </a:avLst>
          </a:prstGeom>
          <a:solidFill>
            <a:srgbClr val="0B2033">
              <a:alpha val="97000"/>
            </a:srgbClr>
          </a:solidFill>
          <a:ln w="12700">
            <a:solidFill>
              <a:srgbClr val="FFD166">
                <a:alpha val="82000"/>
              </a:srgbClr>
            </a:solidFill>
            <a:prstDash val="solid"/>
          </a:ln>
          <a:effectLst>
            <a:outerShdw blurRad="17780" dist="889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363456" y="132588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FFD166"/>
                </a:solidFill>
              </a:rPr>
              <a:t>Task 4</a:t>
            </a:r>
            <a:endParaRPr lang="en-US" sz="1480" dirty="0"/>
          </a:p>
        </p:txBody>
      </p:sp>
      <p:sp>
        <p:nvSpPr>
          <p:cNvPr id="19" name="Text 16"/>
          <p:cNvSpPr/>
          <p:nvPr/>
        </p:nvSpPr>
        <p:spPr>
          <a:xfrm>
            <a:off x="9363456" y="1645920"/>
            <a:ext cx="2176272" cy="1682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300" dirty="0">
                <a:solidFill>
                  <a:srgbClr val="F6FAFF"/>
                </a:solidFill>
              </a:rPr>
              <a:t>Develop FastAPI + dashboard, connect prediction history, test demo flow and prepare report/PPT.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14400" y="6327648"/>
            <a:ext cx="10332720" cy="310896"/>
          </a:xfrm>
          <a:prstGeom prst="roundRect">
            <a:avLst>
              <a:gd name="adj" fmla="val 17647"/>
            </a:avLst>
          </a:prstGeom>
          <a:solidFill>
            <a:srgbClr val="0A1A2A">
              <a:alpha val="95000"/>
            </a:srgbClr>
          </a:solidFill>
          <a:ln w="10160">
            <a:solidFill>
              <a:srgbClr val="74E36A">
                <a:alpha val="7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42416" y="6437376"/>
            <a:ext cx="10076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6FAFF"/>
                </a:solidFill>
              </a:rPr>
              <a:t>Final deliverable: trained forecasting model + API + dashboard + evaluation results + implementation report.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748</Words>
  <Application>Microsoft Office PowerPoint</Application>
  <PresentationFormat>Widescreen</PresentationFormat>
  <Paragraphs>94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KLH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Grid Energy Forecasting</dc:title>
  <dc:subject>ML Project PPT</dc:subject>
  <dc:creator>OpenAI</dc:creator>
  <cp:lastModifiedBy>John</cp:lastModifiedBy>
  <cp:revision>7</cp:revision>
  <dcterms:created xsi:type="dcterms:W3CDTF">2026-08-06T14:23:14Z</dcterms:created>
  <dcterms:modified xsi:type="dcterms:W3CDTF">2026-08-06T14:34:00Z</dcterms:modified>
</cp:coreProperties>
</file>