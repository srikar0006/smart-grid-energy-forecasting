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harts/chart1.xml" ContentType="application/vnd.openxmlformats-officedocument.drawingml.chart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RMSE by model (lower = better)</a:t>
            </a:r>
            <a:endParaRPr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 bwMode="auto">
            <a:prstGeom prst="rect">
              <a:avLst/>
            </a:prstGeom>
            <a:solidFill>
              <a:srgbClr val="B33A3A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Sheet1!$A$2:$A$4</c:f>
              <c:multiLvlStrCache>
                <c:ptCount val="3"/>
                <c:lvl>
                  <c:pt idx="0">
                    <c:v>XGBoost</c:v>
                  </c:pt>
                  <c:pt idx="1">
                    <c:v>LSTM</c:v>
                  </c:pt>
                  <c:pt idx="2">
                    <c:v>Linear Reg.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118.24</c:v>
                </c:pt>
                <c:pt idx="1">
                  <c:v>135.86</c:v>
                </c:pt>
                <c:pt idx="2">
                  <c:v>187.76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1000" b="0" i="0" u="none" strike="noStrike">
                  <a:solidFill>
                    <a:srgbClr val="000000"/>
                  </a:solidFill>
                  <a:latin typeface="Arial"/>
                </a:defRPr>
              </a:pPr>
              <a:endParaRPr/>
            </a:p>
          </c:txPr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12700" cap="flat">
              <a:solidFill>
                <a:srgbClr val="EAED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6400800" y="1645920"/>
      <a:ext cx="5212080" cy="3017519"/>
    </a:xfrm>
    <a:prstGeom prst="rect">
      <a:avLst/>
    </a:prstGeom>
    <a:noFill/>
    <a:ln>
      <a:noFill/>
    </a:ln>
    <a:effectLst/>
  </c:sp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55450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69008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43429933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615512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0658474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52086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8158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8981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12633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4603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524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8461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2528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7433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2422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8227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1093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3174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076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0914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98994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87D90B-75E4-6674-2B26-0C336C66F9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60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0222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2219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9914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3949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1404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1051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90509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59212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B2A4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113437" name="Shape 0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55811780" name="Shape 1"/>
          <p:cNvSpPr/>
          <p:nvPr/>
        </p:nvSpPr>
        <p:spPr bwMode="auto">
          <a:xfrm>
            <a:off x="9692640" y="-1371600"/>
            <a:ext cx="4572000" cy="4572000"/>
          </a:xfrm>
          <a:prstGeom prst="ellipse">
            <a:avLst/>
          </a:prstGeom>
          <a:solidFill>
            <a:srgbClr val="1E7C7C">
              <a:alpha val="20000"/>
            </a:srgbClr>
          </a:solidFill>
          <a:ln/>
        </p:spPr>
      </p:sp>
      <p:sp>
        <p:nvSpPr>
          <p:cNvPr id="1275533597" name="Shape 2"/>
          <p:cNvSpPr/>
          <p:nvPr/>
        </p:nvSpPr>
        <p:spPr bwMode="auto">
          <a:xfrm>
            <a:off x="-1371600" y="4572000"/>
            <a:ext cx="4114800" cy="4114800"/>
          </a:xfrm>
          <a:prstGeom prst="ellipse">
            <a:avLst/>
          </a:prstGeom>
          <a:solidFill>
            <a:srgbClr val="E0A458">
              <a:alpha val="15000"/>
            </a:srgbClr>
          </a:solidFill>
          <a:ln/>
        </p:spPr>
      </p:sp>
      <p:sp>
        <p:nvSpPr>
          <p:cNvPr id="1621811209" name="Text 3"/>
          <p:cNvSpPr/>
          <p:nvPr/>
        </p:nvSpPr>
        <p:spPr bwMode="auto"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 spc="300">
                <a:solidFill>
                  <a:srgbClr val="E0A458"/>
                </a:solidFill>
                <a:latin typeface="Calibri"/>
                <a:ea typeface="Calibri"/>
                <a:cs typeface="Calibri"/>
              </a:rPr>
              <a:t>Smart Grid Energy Forecasting</a:t>
            </a:r>
            <a:endParaRPr lang="en-US" sz="1400"/>
          </a:p>
        </p:txBody>
      </p:sp>
      <p:sp>
        <p:nvSpPr>
          <p:cNvPr id="1247975134" name="Text 4"/>
          <p:cNvSpPr/>
          <p:nvPr/>
        </p:nvSpPr>
        <p:spPr bwMode="auto"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Literature Review</a:t>
            </a:r>
            <a:endParaRPr lang="en-US" sz="4400"/>
          </a:p>
        </p:txBody>
      </p:sp>
      <p:sp>
        <p:nvSpPr>
          <p:cNvPr id="2035782246" name="Text 5"/>
          <p:cNvSpPr/>
          <p:nvPr/>
        </p:nvSpPr>
        <p:spPr bwMode="auto">
          <a:xfrm>
            <a:off x="822960" y="35204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D7DEE8"/>
                </a:solidFill>
                <a:latin typeface="Calibri"/>
                <a:ea typeface="Calibri"/>
                <a:cs typeface="Calibri"/>
              </a:rPr>
              <a:t>Gradient-boosted tree evidence for predicting energy consumption from Season, Power (kWh),</a:t>
            </a:r>
            <a:endParaRPr lang="en-US" sz="150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D7DEE8"/>
                </a:solidFill>
                <a:latin typeface="Calibri"/>
                <a:ea typeface="Calibri"/>
                <a:cs typeface="Calibri"/>
              </a:rPr>
              <a:t>Temperature (°C), and Humidity (%)</a:t>
            </a:r>
            <a:endParaRPr lang="en-US" sz="1500"/>
          </a:p>
        </p:txBody>
      </p:sp>
      <p:sp>
        <p:nvSpPr>
          <p:cNvPr id="1792131994" name="Shape 6"/>
          <p:cNvSpPr/>
          <p:nvPr/>
        </p:nvSpPr>
        <p:spPr bwMode="auto">
          <a:xfrm>
            <a:off x="822960" y="4480560"/>
            <a:ext cx="2926080" cy="0"/>
          </a:xfrm>
          <a:prstGeom prst="line">
            <a:avLst/>
          </a:prstGeom>
          <a:noFill/>
          <a:ln w="38100">
            <a:solidFill>
              <a:srgbClr val="1E7C7C"/>
            </a:solidFill>
            <a:prstDash val="solid"/>
          </a:ln>
        </p:spPr>
      </p:sp>
      <p:sp>
        <p:nvSpPr>
          <p:cNvPr id="1580960627" name="Text 7"/>
          <p:cNvSpPr/>
          <p:nvPr/>
        </p:nvSpPr>
        <p:spPr bwMode="auto">
          <a:xfrm>
            <a:off x="822960" y="6035039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FB0C3"/>
                </a:solidFill>
                <a:latin typeface="Calibri"/>
                <a:ea typeface="Calibri"/>
                <a:cs typeface="Calibri"/>
              </a:rPr>
              <a:t>Prepared for: Energy Consumption Prediction Project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909618" name="Text 0"/>
          <p:cNvSpPr/>
          <p:nvPr/>
        </p:nvSpPr>
        <p:spPr bwMode="auto"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E7C7C"/>
                </a:solidFill>
                <a:latin typeface="Calibri"/>
                <a:ea typeface="Calibri"/>
                <a:cs typeface="Calibri"/>
              </a:rPr>
              <a:t>THE PROJECT</a:t>
            </a:r>
            <a:endParaRPr lang="en-US" sz="1300"/>
          </a:p>
        </p:txBody>
      </p:sp>
      <p:sp>
        <p:nvSpPr>
          <p:cNvPr id="1428587198" name="Text 1"/>
          <p:cNvSpPr/>
          <p:nvPr/>
        </p:nvSpPr>
        <p:spPr bwMode="auto"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What we're building</a:t>
            </a:r>
            <a:endParaRPr lang="en-US" sz="2600"/>
          </a:p>
        </p:txBody>
      </p:sp>
      <p:sp>
        <p:nvSpPr>
          <p:cNvPr id="648667161" name="Text 2"/>
          <p:cNvSpPr/>
          <p:nvPr/>
        </p:nvSpPr>
        <p:spPr bwMode="auto">
          <a:xfrm>
            <a:off x="54864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Goal</a:t>
            </a:r>
            <a:endParaRPr lang="en-US" sz="1600"/>
          </a:p>
        </p:txBody>
      </p:sp>
      <p:sp>
        <p:nvSpPr>
          <p:cNvPr id="671586265" name="Text 3"/>
          <p:cNvSpPr/>
          <p:nvPr/>
        </p:nvSpPr>
        <p:spPr bwMode="auto">
          <a:xfrm>
            <a:off x="548640" y="18288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35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Predict energy consumption using a gradient-boosted tree model (XGBoost or LightGBM) trained on four features.</a:t>
            </a:r>
            <a:endParaRPr lang="en-US" sz="1350"/>
          </a:p>
        </p:txBody>
      </p:sp>
      <p:sp>
        <p:nvSpPr>
          <p:cNvPr id="65208903" name="Text 4"/>
          <p:cNvSpPr/>
          <p:nvPr/>
        </p:nvSpPr>
        <p:spPr bwMode="auto">
          <a:xfrm>
            <a:off x="548640" y="3200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Why XGBoost / LightGBM?</a:t>
            </a:r>
            <a:endParaRPr lang="en-US" sz="1600"/>
          </a:p>
        </p:txBody>
      </p:sp>
      <p:sp>
        <p:nvSpPr>
          <p:cNvPr id="1779230487" name="Text 5"/>
          <p:cNvSpPr/>
          <p:nvPr/>
        </p:nvSpPr>
        <p:spPr bwMode="auto">
          <a:xfrm>
            <a:off x="548640" y="3611880"/>
            <a:ext cx="5212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Both are gradient-boosted decision tree ensembles — excellent at capturing nonlinear interactions (e.g. Temperature × Humidity × Season) without heavy feature engineering.</a:t>
            </a:r>
            <a:endParaRPr lang="en-US" sz="120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Across the literature reviewed here, XGBoost/LightGBM variants consistently beat SVM/SVR and linear baselines, and are competitive with or better than LSTM on tabular, non-sequential energy data.</a:t>
            </a:r>
            <a:endParaRPr lang="en-US" sz="120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LightGBM trains dramatically faster than XGBoost on large datasets (leaf-wise growth + histogram binning) with comparable accuracy — relevant if our dataset scales up.</a:t>
            </a:r>
            <a:endParaRPr lang="en-US" sz="1200"/>
          </a:p>
        </p:txBody>
      </p:sp>
      <p:sp>
        <p:nvSpPr>
          <p:cNvPr id="1355821188" name="Shape 6"/>
          <p:cNvSpPr/>
          <p:nvPr/>
        </p:nvSpPr>
        <p:spPr bwMode="auto">
          <a:xfrm>
            <a:off x="5852160" y="1417320"/>
            <a:ext cx="5760720" cy="987552"/>
          </a:xfrm>
          <a:prstGeom prst="roundRect">
            <a:avLst>
              <a:gd name="adj" fmla="val 7407"/>
            </a:avLst>
          </a:prstGeom>
          <a:solidFill>
            <a:srgbClr val="F4F6F8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429950078" name="Shape 7"/>
          <p:cNvSpPr/>
          <p:nvPr/>
        </p:nvSpPr>
        <p:spPr bwMode="auto">
          <a:xfrm>
            <a:off x="6016752" y="1600200"/>
            <a:ext cx="128016" cy="621792"/>
          </a:xfrm>
          <a:prstGeom prst="roundRect">
            <a:avLst>
              <a:gd name="adj" fmla="val 21429"/>
            </a:avLst>
          </a:prstGeom>
          <a:solidFill>
            <a:srgbClr val="1E7C7C"/>
          </a:solidFill>
          <a:ln/>
        </p:spPr>
      </p:sp>
      <p:sp>
        <p:nvSpPr>
          <p:cNvPr id="1114022141" name="Text 8"/>
          <p:cNvSpPr/>
          <p:nvPr/>
        </p:nvSpPr>
        <p:spPr bwMode="auto">
          <a:xfrm>
            <a:off x="6263640" y="1508759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Season</a:t>
            </a:r>
            <a:endParaRPr lang="en-US" sz="1450"/>
          </a:p>
        </p:txBody>
      </p:sp>
      <p:sp>
        <p:nvSpPr>
          <p:cNvPr id="1369059762" name="Text 9"/>
          <p:cNvSpPr/>
          <p:nvPr/>
        </p:nvSpPr>
        <p:spPr bwMode="auto">
          <a:xfrm>
            <a:off x="6263640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10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Categorical driver of heating/cooling demand and daylight patterns</a:t>
            </a:r>
            <a:endParaRPr lang="en-US" sz="1100"/>
          </a:p>
        </p:txBody>
      </p:sp>
      <p:sp>
        <p:nvSpPr>
          <p:cNvPr id="312632813" name="Shape 10"/>
          <p:cNvSpPr/>
          <p:nvPr/>
        </p:nvSpPr>
        <p:spPr bwMode="auto">
          <a:xfrm>
            <a:off x="5852160" y="2587752"/>
            <a:ext cx="5760720" cy="987552"/>
          </a:xfrm>
          <a:prstGeom prst="roundRect">
            <a:avLst>
              <a:gd name="adj" fmla="val 7407"/>
            </a:avLst>
          </a:prstGeom>
          <a:solidFill>
            <a:srgbClr val="F4F6F8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707017149" name="Shape 11"/>
          <p:cNvSpPr/>
          <p:nvPr/>
        </p:nvSpPr>
        <p:spPr bwMode="auto">
          <a:xfrm>
            <a:off x="6016752" y="2770632"/>
            <a:ext cx="128016" cy="621792"/>
          </a:xfrm>
          <a:prstGeom prst="roundRect">
            <a:avLst>
              <a:gd name="adj" fmla="val 21429"/>
            </a:avLst>
          </a:prstGeom>
          <a:solidFill>
            <a:srgbClr val="1B2A4A"/>
          </a:solidFill>
          <a:ln/>
        </p:spPr>
      </p:sp>
      <p:sp>
        <p:nvSpPr>
          <p:cNvPr id="19754064" name="Text 12"/>
          <p:cNvSpPr/>
          <p:nvPr/>
        </p:nvSpPr>
        <p:spPr bwMode="auto">
          <a:xfrm>
            <a:off x="6263640" y="26791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Power_kWh</a:t>
            </a:r>
            <a:endParaRPr lang="en-US" sz="1450"/>
          </a:p>
        </p:txBody>
      </p:sp>
      <p:sp>
        <p:nvSpPr>
          <p:cNvPr id="1861700431" name="Text 13"/>
          <p:cNvSpPr/>
          <p:nvPr/>
        </p:nvSpPr>
        <p:spPr bwMode="auto">
          <a:xfrm>
            <a:off x="6263640" y="299923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10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Historical/metered consumption — the core signal and/or target</a:t>
            </a:r>
            <a:endParaRPr lang="en-US" sz="1100"/>
          </a:p>
        </p:txBody>
      </p:sp>
      <p:sp>
        <p:nvSpPr>
          <p:cNvPr id="1336881344" name="Shape 14"/>
          <p:cNvSpPr/>
          <p:nvPr/>
        </p:nvSpPr>
        <p:spPr bwMode="auto">
          <a:xfrm>
            <a:off x="5852160" y="3758184"/>
            <a:ext cx="5760720" cy="987552"/>
          </a:xfrm>
          <a:prstGeom prst="roundRect">
            <a:avLst>
              <a:gd name="adj" fmla="val 7407"/>
            </a:avLst>
          </a:prstGeom>
          <a:solidFill>
            <a:srgbClr val="F4F6F8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665160126" name="Shape 15"/>
          <p:cNvSpPr/>
          <p:nvPr/>
        </p:nvSpPr>
        <p:spPr bwMode="auto">
          <a:xfrm>
            <a:off x="6016752" y="3941064"/>
            <a:ext cx="128016" cy="621792"/>
          </a:xfrm>
          <a:prstGeom prst="roundRect">
            <a:avLst>
              <a:gd name="adj" fmla="val 21429"/>
            </a:avLst>
          </a:prstGeom>
          <a:solidFill>
            <a:srgbClr val="E0A458"/>
          </a:solidFill>
          <a:ln/>
        </p:spPr>
      </p:sp>
      <p:sp>
        <p:nvSpPr>
          <p:cNvPr id="957639246" name="Text 16"/>
          <p:cNvSpPr/>
          <p:nvPr/>
        </p:nvSpPr>
        <p:spPr bwMode="auto">
          <a:xfrm>
            <a:off x="6263640" y="384962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Temperature_C</a:t>
            </a:r>
            <a:endParaRPr lang="en-US" sz="1450"/>
          </a:p>
        </p:txBody>
      </p:sp>
      <p:sp>
        <p:nvSpPr>
          <p:cNvPr id="561867167" name="Text 17"/>
          <p:cNvSpPr/>
          <p:nvPr/>
        </p:nvSpPr>
        <p:spPr bwMode="auto">
          <a:xfrm>
            <a:off x="6263640" y="416966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10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Primary physical driver via HVAC load (heating &amp; cooling degree effects)</a:t>
            </a:r>
            <a:endParaRPr lang="en-US" sz="1100"/>
          </a:p>
        </p:txBody>
      </p:sp>
      <p:sp>
        <p:nvSpPr>
          <p:cNvPr id="1689461939" name="Shape 18"/>
          <p:cNvSpPr/>
          <p:nvPr/>
        </p:nvSpPr>
        <p:spPr bwMode="auto">
          <a:xfrm>
            <a:off x="5852160" y="4928616"/>
            <a:ext cx="5760720" cy="987552"/>
          </a:xfrm>
          <a:prstGeom prst="roundRect">
            <a:avLst>
              <a:gd name="adj" fmla="val 7407"/>
            </a:avLst>
          </a:prstGeom>
          <a:solidFill>
            <a:srgbClr val="F4F6F8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816245826" name="Shape 19"/>
          <p:cNvSpPr/>
          <p:nvPr/>
        </p:nvSpPr>
        <p:spPr bwMode="auto">
          <a:xfrm>
            <a:off x="6016752" y="5111496"/>
            <a:ext cx="128016" cy="621792"/>
          </a:xfrm>
          <a:prstGeom prst="roundRect">
            <a:avLst>
              <a:gd name="adj" fmla="val 21429"/>
            </a:avLst>
          </a:prstGeom>
          <a:solidFill>
            <a:srgbClr val="B33A3A"/>
          </a:solidFill>
          <a:ln/>
        </p:spPr>
      </p:sp>
      <p:sp>
        <p:nvSpPr>
          <p:cNvPr id="1116106984" name="Text 20"/>
          <p:cNvSpPr/>
          <p:nvPr/>
        </p:nvSpPr>
        <p:spPr bwMode="auto">
          <a:xfrm>
            <a:off x="6263640" y="502005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Humidity_pct</a:t>
            </a:r>
            <a:endParaRPr lang="en-US" sz="1450"/>
          </a:p>
        </p:txBody>
      </p:sp>
      <p:sp>
        <p:nvSpPr>
          <p:cNvPr id="1107685336" name="Text 21"/>
          <p:cNvSpPr/>
          <p:nvPr/>
        </p:nvSpPr>
        <p:spPr bwMode="auto">
          <a:xfrm>
            <a:off x="6263640" y="534009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10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Secondary driver — affects perceived temperature &amp; appliance (AC/dehumidifier) load</a:t>
            </a:r>
            <a:endParaRPr lang="en-US" sz="1100"/>
          </a:p>
        </p:txBody>
      </p:sp>
      <p:sp>
        <p:nvSpPr>
          <p:cNvPr id="454721496" name="Text 22"/>
          <p:cNvSpPr/>
          <p:nvPr/>
        </p:nvSpPr>
        <p:spPr bwMode="auto"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573168" name="Text 0"/>
          <p:cNvSpPr/>
          <p:nvPr/>
        </p:nvSpPr>
        <p:spPr bwMode="auto"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E7C7C"/>
                </a:solidFill>
                <a:latin typeface="Calibri"/>
                <a:ea typeface="Calibri"/>
                <a:cs typeface="Calibri"/>
              </a:rPr>
              <a:t>OVERVIEW</a:t>
            </a:r>
            <a:endParaRPr lang="en-US" sz="1300"/>
          </a:p>
        </p:txBody>
      </p:sp>
      <p:sp>
        <p:nvSpPr>
          <p:cNvPr id="741519331" name="Text 1"/>
          <p:cNvSpPr/>
          <p:nvPr/>
        </p:nvSpPr>
        <p:spPr bwMode="auto"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The four papers at a glance</a:t>
            </a:r>
            <a:endParaRPr lang="en-US" sz="2600"/>
          </a:p>
        </p:txBody>
      </p:sp>
      <p:sp>
        <p:nvSpPr>
          <p:cNvPr id="2012935007" name="Text 2"/>
          <p:cNvSpPr/>
          <p:nvPr/>
        </p:nvSpPr>
        <p:spPr bwMode="auto">
          <a:xfrm>
            <a:off x="548640" y="1234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#</a:t>
            </a:r>
            <a:endParaRPr lang="en-US" sz="1100"/>
          </a:p>
        </p:txBody>
      </p:sp>
      <p:sp>
        <p:nvSpPr>
          <p:cNvPr id="524527014" name="Text 3"/>
          <p:cNvSpPr/>
          <p:nvPr/>
        </p:nvSpPr>
        <p:spPr bwMode="auto">
          <a:xfrm>
            <a:off x="1097280" y="12344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Source</a:t>
            </a:r>
            <a:endParaRPr lang="en-US" sz="1100"/>
          </a:p>
        </p:txBody>
      </p:sp>
      <p:sp>
        <p:nvSpPr>
          <p:cNvPr id="1248916252" name="Text 4"/>
          <p:cNvSpPr/>
          <p:nvPr/>
        </p:nvSpPr>
        <p:spPr bwMode="auto">
          <a:xfrm>
            <a:off x="6949440" y="1234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Year</a:t>
            </a:r>
            <a:endParaRPr lang="en-US" sz="1100"/>
          </a:p>
        </p:txBody>
      </p:sp>
      <p:sp>
        <p:nvSpPr>
          <p:cNvPr id="1469963207" name="Text 5"/>
          <p:cNvSpPr/>
          <p:nvPr/>
        </p:nvSpPr>
        <p:spPr bwMode="auto">
          <a:xfrm>
            <a:off x="7680960" y="1234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Focus</a:t>
            </a:r>
            <a:endParaRPr lang="en-US" sz="1100"/>
          </a:p>
        </p:txBody>
      </p:sp>
      <p:sp>
        <p:nvSpPr>
          <p:cNvPr id="769124610" name="Shape 6"/>
          <p:cNvSpPr/>
          <p:nvPr/>
        </p:nvSpPr>
        <p:spPr bwMode="auto">
          <a:xfrm>
            <a:off x="548640" y="1508759"/>
            <a:ext cx="1110996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</p:sp>
      <p:sp>
        <p:nvSpPr>
          <p:cNvPr id="1577727552" name="Shape 7"/>
          <p:cNvSpPr/>
          <p:nvPr/>
        </p:nvSpPr>
        <p:spPr bwMode="auto">
          <a:xfrm>
            <a:off x="548640" y="1554480"/>
            <a:ext cx="73152" cy="868680"/>
          </a:xfrm>
          <a:prstGeom prst="rect">
            <a:avLst/>
          </a:prstGeom>
          <a:solidFill>
            <a:srgbClr val="B33A3A"/>
          </a:solidFill>
          <a:ln/>
        </p:spPr>
      </p:sp>
      <p:sp>
        <p:nvSpPr>
          <p:cNvPr id="1778793334" name="Text 8"/>
          <p:cNvSpPr/>
          <p:nvPr/>
        </p:nvSpPr>
        <p:spPr bwMode="auto">
          <a:xfrm>
            <a:off x="777240" y="1554480"/>
            <a:ext cx="365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1</a:t>
            </a:r>
            <a:endParaRPr lang="en-US" sz="2000"/>
          </a:p>
        </p:txBody>
      </p:sp>
      <p:sp>
        <p:nvSpPr>
          <p:cNvPr id="1802281960" name="Text 9"/>
          <p:cNvSpPr/>
          <p:nvPr/>
        </p:nvSpPr>
        <p:spPr bwMode="auto">
          <a:xfrm>
            <a:off x="1097280" y="155448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250" b="1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Energy and AI / ScienceDirect — Time-series study on temperature, renewables &amp; demand</a:t>
            </a:r>
            <a:endParaRPr lang="en-US" sz="1250"/>
          </a:p>
        </p:txBody>
      </p:sp>
      <p:sp>
        <p:nvSpPr>
          <p:cNvPr id="499392152" name="Text 10"/>
          <p:cNvSpPr/>
          <p:nvPr/>
        </p:nvSpPr>
        <p:spPr bwMode="auto">
          <a:xfrm>
            <a:off x="6949440" y="155448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2025</a:t>
            </a:r>
            <a:endParaRPr lang="en-US" sz="1300"/>
          </a:p>
        </p:txBody>
      </p:sp>
      <p:sp>
        <p:nvSpPr>
          <p:cNvPr id="1350377947" name="Text 11"/>
          <p:cNvSpPr/>
          <p:nvPr/>
        </p:nvSpPr>
        <p:spPr bwMode="auto">
          <a:xfrm>
            <a:off x="7680960" y="155448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15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XGBoost + LSTM hybrid model, SHAP interpretability</a:t>
            </a:r>
            <a:endParaRPr lang="en-US" sz="1150"/>
          </a:p>
        </p:txBody>
      </p:sp>
      <p:sp>
        <p:nvSpPr>
          <p:cNvPr id="299948072" name="Shape 12"/>
          <p:cNvSpPr/>
          <p:nvPr/>
        </p:nvSpPr>
        <p:spPr bwMode="auto">
          <a:xfrm>
            <a:off x="548640" y="2514600"/>
            <a:ext cx="11109960" cy="0"/>
          </a:xfrm>
          <a:prstGeom prst="line">
            <a:avLst/>
          </a:prstGeom>
          <a:noFill/>
          <a:ln w="9525">
            <a:solidFill>
              <a:srgbClr val="EDEFF2"/>
            </a:solidFill>
            <a:prstDash val="solid"/>
          </a:ln>
        </p:spPr>
      </p:sp>
      <p:sp>
        <p:nvSpPr>
          <p:cNvPr id="1577767557" name="Shape 13"/>
          <p:cNvSpPr/>
          <p:nvPr/>
        </p:nvSpPr>
        <p:spPr bwMode="auto">
          <a:xfrm>
            <a:off x="548640" y="2606040"/>
            <a:ext cx="73152" cy="868680"/>
          </a:xfrm>
          <a:prstGeom prst="rect">
            <a:avLst/>
          </a:prstGeom>
          <a:solidFill>
            <a:srgbClr val="1E7C7C"/>
          </a:solidFill>
          <a:ln/>
        </p:spPr>
      </p:sp>
      <p:sp>
        <p:nvSpPr>
          <p:cNvPr id="1843222810" name="Text 14"/>
          <p:cNvSpPr/>
          <p:nvPr/>
        </p:nvSpPr>
        <p:spPr bwMode="auto">
          <a:xfrm>
            <a:off x="777240" y="2606040"/>
            <a:ext cx="365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E7C7C"/>
                </a:solidFill>
                <a:latin typeface="Calibri"/>
                <a:ea typeface="Calibri"/>
                <a:cs typeface="Calibri"/>
              </a:rPr>
              <a:t>2</a:t>
            </a:r>
            <a:endParaRPr lang="en-US" sz="2000"/>
          </a:p>
        </p:txBody>
      </p:sp>
      <p:sp>
        <p:nvSpPr>
          <p:cNvPr id="739789458" name="Text 15"/>
          <p:cNvSpPr/>
          <p:nvPr/>
        </p:nvSpPr>
        <p:spPr bwMode="auto">
          <a:xfrm>
            <a:off x="1097280" y="260604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250" b="1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Electrical Engineering (Springer) — Building energy prediction with optimization</a:t>
            </a:r>
            <a:endParaRPr lang="en-US" sz="1250"/>
          </a:p>
        </p:txBody>
      </p:sp>
      <p:sp>
        <p:nvSpPr>
          <p:cNvPr id="1469611249" name="Text 16"/>
          <p:cNvSpPr/>
          <p:nvPr/>
        </p:nvSpPr>
        <p:spPr bwMode="auto">
          <a:xfrm>
            <a:off x="6949440" y="260604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2025</a:t>
            </a:r>
            <a:endParaRPr lang="en-US" sz="1300"/>
          </a:p>
        </p:txBody>
      </p:sp>
      <p:sp>
        <p:nvSpPr>
          <p:cNvPr id="686082907" name="Text 17"/>
          <p:cNvSpPr/>
          <p:nvPr/>
        </p:nvSpPr>
        <p:spPr bwMode="auto">
          <a:xfrm>
            <a:off x="7680960" y="26060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15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LightGBM, Random Forest &amp; XGBoost + metaheuristic tuning (SBO, MFO)</a:t>
            </a:r>
            <a:endParaRPr lang="en-US" sz="1150"/>
          </a:p>
        </p:txBody>
      </p:sp>
      <p:sp>
        <p:nvSpPr>
          <p:cNvPr id="2070045908" name="Shape 18"/>
          <p:cNvSpPr/>
          <p:nvPr/>
        </p:nvSpPr>
        <p:spPr bwMode="auto">
          <a:xfrm>
            <a:off x="548640" y="3566160"/>
            <a:ext cx="11109960" cy="0"/>
          </a:xfrm>
          <a:prstGeom prst="line">
            <a:avLst/>
          </a:prstGeom>
          <a:noFill/>
          <a:ln w="9525">
            <a:solidFill>
              <a:srgbClr val="EDEFF2"/>
            </a:solidFill>
            <a:prstDash val="solid"/>
          </a:ln>
        </p:spPr>
      </p:sp>
      <p:sp>
        <p:nvSpPr>
          <p:cNvPr id="777315690" name="Shape 19"/>
          <p:cNvSpPr/>
          <p:nvPr/>
        </p:nvSpPr>
        <p:spPr bwMode="auto">
          <a:xfrm>
            <a:off x="548640" y="3657600"/>
            <a:ext cx="73152" cy="868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12694947" name="Text 20"/>
          <p:cNvSpPr/>
          <p:nvPr/>
        </p:nvSpPr>
        <p:spPr bwMode="auto">
          <a:xfrm>
            <a:off x="777240" y="3657600"/>
            <a:ext cx="365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3</a:t>
            </a:r>
            <a:endParaRPr lang="en-US" sz="2000"/>
          </a:p>
        </p:txBody>
      </p:sp>
      <p:sp>
        <p:nvSpPr>
          <p:cNvPr id="333779439" name="Text 21"/>
          <p:cNvSpPr/>
          <p:nvPr/>
        </p:nvSpPr>
        <p:spPr bwMode="auto">
          <a:xfrm>
            <a:off x="1097280" y="365760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250" b="1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J. Innovations in Engineering Education — Low-energy house prediction</a:t>
            </a:r>
            <a:endParaRPr lang="en-US" sz="1250"/>
          </a:p>
        </p:txBody>
      </p:sp>
      <p:sp>
        <p:nvSpPr>
          <p:cNvPr id="728086901" name="Text 22"/>
          <p:cNvSpPr/>
          <p:nvPr/>
        </p:nvSpPr>
        <p:spPr bwMode="auto">
          <a:xfrm>
            <a:off x="6949440" y="365760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2024</a:t>
            </a:r>
            <a:endParaRPr lang="en-US" sz="1300"/>
          </a:p>
        </p:txBody>
      </p:sp>
      <p:sp>
        <p:nvSpPr>
          <p:cNvPr id="1947697986" name="Text 23"/>
          <p:cNvSpPr/>
          <p:nvPr/>
        </p:nvSpPr>
        <p:spPr bwMode="auto">
          <a:xfrm>
            <a:off x="7680960" y="365760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15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XGBoost vs Random Forest, Decision Tree, SVM on indoor/outdoor conditions</a:t>
            </a:r>
            <a:endParaRPr lang="en-US" sz="1150"/>
          </a:p>
        </p:txBody>
      </p:sp>
      <p:sp>
        <p:nvSpPr>
          <p:cNvPr id="555892914" name="Shape 24"/>
          <p:cNvSpPr/>
          <p:nvPr/>
        </p:nvSpPr>
        <p:spPr bwMode="auto">
          <a:xfrm>
            <a:off x="548640" y="4617720"/>
            <a:ext cx="11109960" cy="0"/>
          </a:xfrm>
          <a:prstGeom prst="line">
            <a:avLst/>
          </a:prstGeom>
          <a:noFill/>
          <a:ln w="9525">
            <a:solidFill>
              <a:srgbClr val="EDEFF2"/>
            </a:solidFill>
            <a:prstDash val="solid"/>
          </a:ln>
        </p:spPr>
      </p:sp>
      <p:sp>
        <p:nvSpPr>
          <p:cNvPr id="863634928" name="Shape 25"/>
          <p:cNvSpPr/>
          <p:nvPr/>
        </p:nvSpPr>
        <p:spPr bwMode="auto">
          <a:xfrm>
            <a:off x="548640" y="4709160"/>
            <a:ext cx="73152" cy="86868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588233394" name="Text 26"/>
          <p:cNvSpPr/>
          <p:nvPr/>
        </p:nvSpPr>
        <p:spPr bwMode="auto">
          <a:xfrm>
            <a:off x="777240" y="4709160"/>
            <a:ext cx="365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E0A458"/>
                </a:solidFill>
                <a:latin typeface="Calibri"/>
                <a:ea typeface="Calibri"/>
                <a:cs typeface="Calibri"/>
              </a:rPr>
              <a:t>4</a:t>
            </a:r>
            <a:endParaRPr lang="en-US" sz="2000"/>
          </a:p>
        </p:txBody>
      </p:sp>
      <p:sp>
        <p:nvSpPr>
          <p:cNvPr id="1544246411" name="Text 27"/>
          <p:cNvSpPr/>
          <p:nvPr/>
        </p:nvSpPr>
        <p:spPr bwMode="auto">
          <a:xfrm>
            <a:off x="1097280" y="470916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250" b="1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Research Square — IoT-based Building Energy Management System</a:t>
            </a:r>
            <a:endParaRPr lang="en-US" sz="1250"/>
          </a:p>
        </p:txBody>
      </p:sp>
      <p:sp>
        <p:nvSpPr>
          <p:cNvPr id="2129033338" name="Text 28"/>
          <p:cNvSpPr/>
          <p:nvPr/>
        </p:nvSpPr>
        <p:spPr bwMode="auto">
          <a:xfrm>
            <a:off x="6949440" y="470916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2025</a:t>
            </a:r>
            <a:endParaRPr lang="en-US" sz="1300"/>
          </a:p>
        </p:txBody>
      </p:sp>
      <p:sp>
        <p:nvSpPr>
          <p:cNvPr id="1292239240" name="Text 29"/>
          <p:cNvSpPr/>
          <p:nvPr/>
        </p:nvSpPr>
        <p:spPr bwMode="auto">
          <a:xfrm>
            <a:off x="7680960" y="470916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15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XGBoost, LightGBM, LSTM &amp; ARIMAX head-to-head comparison</a:t>
            </a:r>
            <a:endParaRPr lang="en-US" sz="1150"/>
          </a:p>
        </p:txBody>
      </p:sp>
      <p:sp>
        <p:nvSpPr>
          <p:cNvPr id="1710578581" name="Text 30"/>
          <p:cNvSpPr/>
          <p:nvPr/>
        </p:nvSpPr>
        <p:spPr bwMode="auto"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All four papers are open access; findings below are drawn from full text (abstracts, results tables, and reported metrics).</a:t>
            </a:r>
            <a:endParaRPr lang="en-US" sz="1000"/>
          </a:p>
        </p:txBody>
      </p:sp>
      <p:sp>
        <p:nvSpPr>
          <p:cNvPr id="2036904659" name="Text 31"/>
          <p:cNvSpPr/>
          <p:nvPr/>
        </p:nvSpPr>
        <p:spPr bwMode="auto"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6011901" name="Text 0"/>
          <p:cNvSpPr/>
          <p:nvPr/>
        </p:nvSpPr>
        <p:spPr bwMode="auto"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LITERATURE 1</a:t>
            </a:r>
            <a:endParaRPr lang="en-US" sz="1300"/>
          </a:p>
        </p:txBody>
      </p:sp>
      <p:sp>
        <p:nvSpPr>
          <p:cNvPr id="1198199634" name="Text 1"/>
          <p:cNvSpPr/>
          <p:nvPr/>
        </p:nvSpPr>
        <p:spPr bwMode="auto"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Time-series study on temperature, renewables &amp; demand (2025)</a:t>
            </a:r>
            <a:endParaRPr lang="en-US" sz="2600"/>
          </a:p>
        </p:txBody>
      </p:sp>
      <p:sp>
        <p:nvSpPr>
          <p:cNvPr id="2107204654" name="Text 2"/>
          <p:cNvSpPr/>
          <p:nvPr/>
        </p:nvSpPr>
        <p:spPr bwMode="auto"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“Analyzing energy consumption trends and environmental influences” · Energy and AI / ScienceDirect · pii S2772783125000408</a:t>
            </a:r>
            <a:endParaRPr lang="en-US" sz="1100"/>
          </a:p>
        </p:txBody>
      </p:sp>
      <p:sp>
        <p:nvSpPr>
          <p:cNvPr id="312495226" name="Text 3"/>
          <p:cNvSpPr/>
          <p:nvPr/>
        </p:nvSpPr>
        <p:spPr bwMode="auto"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Setup</a:t>
            </a:r>
            <a:endParaRPr lang="en-US" sz="1400"/>
          </a:p>
        </p:txBody>
      </p:sp>
      <p:sp>
        <p:nvSpPr>
          <p:cNvPr id="295454483" name="Text 4"/>
          <p:cNvSpPr/>
          <p:nvPr/>
        </p:nvSpPr>
        <p:spPr bwMode="auto">
          <a:xfrm>
            <a:off x="548640" y="2011680"/>
            <a:ext cx="5486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Jan 2022–Jan 2025 time-series data across residential, commercial &amp; industrial buildings. Builds a hybrid LightGBM + XGBoost + LSTM + SHAP model to predict energy demand from temperature, humidity, and renewable energy contribution.</a:t>
            </a:r>
            <a:endParaRPr lang="en-US" sz="1250"/>
          </a:p>
        </p:txBody>
      </p:sp>
      <p:sp>
        <p:nvSpPr>
          <p:cNvPr id="276971216" name="Text 5"/>
          <p:cNvSpPr/>
          <p:nvPr/>
        </p:nvSpPr>
        <p:spPr bwMode="auto">
          <a:xfrm>
            <a:off x="54864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Key result</a:t>
            </a:r>
            <a:endParaRPr lang="en-US" sz="1400"/>
          </a:p>
        </p:txBody>
      </p:sp>
      <p:sp>
        <p:nvSpPr>
          <p:cNvPr id="1431667499" name="Text 6"/>
          <p:cNvSpPr/>
          <p:nvPr/>
        </p:nvSpPr>
        <p:spPr bwMode="auto">
          <a:xfrm>
            <a:off x="548640" y="365760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XGBoost (as part of the hybrid) gives the best predictive performance: RMSE = 118.24, R² = 0.9871 — beating LSTM (RMSE 135.86, R² 0.975) and Linear Regression (RMSE 187.76, R² 0.967). Energy use rises from ~2000 kWh at 20°C to ~3200 kWh at 30°C annually.</a:t>
            </a:r>
            <a:endParaRPr lang="en-US" sz="1150"/>
          </a:p>
        </p:txBody>
      </p:sp>
      <p:graphicFrame>
        <p:nvGraphicFramePr>
          <p:cNvPr id="1380150774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6400800" y="1645920"/>
          <a:ext cx="5212080" cy="3017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55161829" name="Shape 7"/>
          <p:cNvSpPr/>
          <p:nvPr/>
        </p:nvSpPr>
        <p:spPr bwMode="auto">
          <a:xfrm>
            <a:off x="548640" y="4709160"/>
            <a:ext cx="11109960" cy="1691640"/>
          </a:xfrm>
          <a:prstGeom prst="roundRect">
            <a:avLst>
              <a:gd name="adj" fmla="val 4324"/>
            </a:avLst>
          </a:prstGeom>
          <a:solidFill>
            <a:srgbClr val="FDEDEA"/>
          </a:solidFill>
          <a:ln/>
        </p:spPr>
      </p:sp>
      <p:sp>
        <p:nvSpPr>
          <p:cNvPr id="739394742" name="Text 8"/>
          <p:cNvSpPr/>
          <p:nvPr/>
        </p:nvSpPr>
        <p:spPr bwMode="auto">
          <a:xfrm>
            <a:off x="777240" y="4846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Relevance to our project</a:t>
            </a:r>
            <a:endParaRPr lang="en-US" sz="1350"/>
          </a:p>
        </p:txBody>
      </p:sp>
      <p:sp>
        <p:nvSpPr>
          <p:cNvPr id="1359508875" name="Text 9"/>
          <p:cNvSpPr/>
          <p:nvPr/>
        </p:nvSpPr>
        <p:spPr bwMode="auto">
          <a:xfrm>
            <a:off x="777240" y="516636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4999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Near-identical feature set to ours (temperature + humidity → energy demand) and confirms XGBoost as the strongest single learner even against LSTM — strong direct evidence for our model choice.</a:t>
            </a:r>
            <a:endParaRPr lang="en-US" sz="1150"/>
          </a:p>
          <a:p>
            <a:pPr marL="342900" indent="-342900">
              <a:lnSpc>
                <a:spcPct val="114999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The explicit temperature-vs-demand curve (2000 kWh at 20°C → 3200 kWh at 30°C) is a useful sanity check / feature-engineering cue: consider a nonlinear or piecewise Temperature_C transform (e.g. cooling-degree terms) rather than assuming a linear relationship.</a:t>
            </a:r>
            <a:endParaRPr lang="en-US" sz="1150"/>
          </a:p>
          <a:p>
            <a:pPr marL="342900" indent="-342900">
              <a:lnSpc>
                <a:spcPct val="114999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SHAP is used for interpretability — recommend adding SHAP value analysis to explain our own XGBoost/LightGBM predictions, not just report accuracy.</a:t>
            </a:r>
            <a:endParaRPr lang="en-US" sz="1150"/>
          </a:p>
        </p:txBody>
      </p:sp>
      <p:sp>
        <p:nvSpPr>
          <p:cNvPr id="440235300" name="Text 10"/>
          <p:cNvSpPr/>
          <p:nvPr/>
        </p:nvSpPr>
        <p:spPr bwMode="auto"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201227" name="Text 0"/>
          <p:cNvSpPr/>
          <p:nvPr/>
        </p:nvSpPr>
        <p:spPr bwMode="auto"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E7C7C"/>
                </a:solidFill>
                <a:latin typeface="Calibri"/>
                <a:ea typeface="Calibri"/>
                <a:cs typeface="Calibri"/>
              </a:rPr>
              <a:t>LITERATURE 2</a:t>
            </a:r>
            <a:endParaRPr lang="en-US" sz="1300"/>
          </a:p>
        </p:txBody>
      </p:sp>
      <p:sp>
        <p:nvSpPr>
          <p:cNvPr id="1915319910" name="Text 1"/>
          <p:cNvSpPr/>
          <p:nvPr/>
        </p:nvSpPr>
        <p:spPr bwMode="auto"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Building energy prediction with optimization (2025)</a:t>
            </a:r>
            <a:endParaRPr lang="en-US" sz="2600"/>
          </a:p>
        </p:txBody>
      </p:sp>
      <p:sp>
        <p:nvSpPr>
          <p:cNvPr id="957552546" name="Text 2"/>
          <p:cNvSpPr/>
          <p:nvPr/>
        </p:nvSpPr>
        <p:spPr bwMode="auto">
          <a:xfrm>
            <a:off x="548640" y="12344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“Improving energy management practices through accurate building energy consumption prediction: LightGBM, RF, and XGBoost with advanced optimization strategies” · Electrical Engineering (Springer)</a:t>
            </a:r>
            <a:endParaRPr lang="en-US" sz="1100"/>
          </a:p>
        </p:txBody>
      </p:sp>
      <p:sp>
        <p:nvSpPr>
          <p:cNvPr id="2076604849" name="Text 3"/>
          <p:cNvSpPr/>
          <p:nvPr/>
        </p:nvSpPr>
        <p:spPr bwMode="auto"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Setup</a:t>
            </a:r>
            <a:endParaRPr lang="en-US" sz="1400"/>
          </a:p>
        </p:txBody>
      </p:sp>
      <p:sp>
        <p:nvSpPr>
          <p:cNvPr id="1596488899" name="Text 4"/>
          <p:cNvSpPr/>
          <p:nvPr/>
        </p:nvSpPr>
        <p:spPr bwMode="auto">
          <a:xfrm>
            <a:off x="548640" y="2148840"/>
            <a:ext cx="5486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Two buildings in Richland, WA (2009–2011). Compares LightGBM, Random Forest, and XGBoost, each individually and hybridized with two metaheuristic optimizers: Satin Bowerbird Optimizer (SBO) and Moth Flame Optimization (MFO).</a:t>
            </a:r>
            <a:endParaRPr lang="en-US" sz="1250"/>
          </a:p>
        </p:txBody>
      </p:sp>
      <p:sp>
        <p:nvSpPr>
          <p:cNvPr id="432111347" name="Text 5"/>
          <p:cNvSpPr/>
          <p:nvPr/>
        </p:nvSpPr>
        <p:spPr bwMode="auto"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Key result</a:t>
            </a:r>
            <a:endParaRPr lang="en-US" sz="1400"/>
          </a:p>
        </p:txBody>
      </p:sp>
      <p:sp>
        <p:nvSpPr>
          <p:cNvPr id="2069400449" name="Text 6"/>
          <p:cNvSpPr/>
          <p:nvPr/>
        </p:nvSpPr>
        <p:spPr bwMode="auto">
          <a:xfrm>
            <a:off x="548640" y="3794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The LightGBM + SBO hybrid wins: R² = 0.9148, MAE = 2.42, RMSE = 5.26 on the test set — outperforming plain LightGBM, RF, and XGBoost, and both models without optimization.</a:t>
            </a:r>
            <a:endParaRPr lang="en-US" sz="1150"/>
          </a:p>
        </p:txBody>
      </p:sp>
      <p:sp>
        <p:nvSpPr>
          <p:cNvPr id="568893781" name="Shape 7"/>
          <p:cNvSpPr/>
          <p:nvPr/>
        </p:nvSpPr>
        <p:spPr bwMode="auto">
          <a:xfrm>
            <a:off x="6309360" y="1783080"/>
            <a:ext cx="5349240" cy="2788920"/>
          </a:xfrm>
          <a:prstGeom prst="roundRect">
            <a:avLst>
              <a:gd name="adj" fmla="val 3279"/>
            </a:avLst>
          </a:prstGeom>
          <a:solidFill>
            <a:srgbClr val="F4F6F8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062045173" name="Text 8"/>
          <p:cNvSpPr/>
          <p:nvPr/>
        </p:nvSpPr>
        <p:spPr bwMode="auto">
          <a:xfrm>
            <a:off x="6537960" y="19659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7C7C"/>
                </a:solidFill>
                <a:latin typeface="Calibri"/>
                <a:ea typeface="Calibri"/>
                <a:cs typeface="Calibri"/>
              </a:rPr>
              <a:t>Why hyperparameter optimization matters</a:t>
            </a:r>
            <a:endParaRPr lang="en-US" sz="1300"/>
          </a:p>
        </p:txBody>
      </p:sp>
      <p:sp>
        <p:nvSpPr>
          <p:cNvPr id="812497717" name="Text 9"/>
          <p:cNvSpPr/>
          <p:nvPr/>
        </p:nvSpPr>
        <p:spPr bwMode="auto">
          <a:xfrm>
            <a:off x="6537960" y="246888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Default LightGBM/XGBoost settings leave accuracy on the table.</a:t>
            </a:r>
            <a:endParaRPr lang="en-US" sz="115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SBO and MFO are bio-inspired search algorithms that tune tree depth, learning rate, leaves/estimators, and regularization automatically.</a:t>
            </a:r>
            <a:endParaRPr lang="en-US" sz="115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The optimized LightGBM meaningfully beat the un-tuned baselines — tuning is not optional for best-in-class results.</a:t>
            </a:r>
            <a:endParaRPr lang="en-US" sz="1150"/>
          </a:p>
        </p:txBody>
      </p:sp>
      <p:sp>
        <p:nvSpPr>
          <p:cNvPr id="1703729973" name="Shape 10"/>
          <p:cNvSpPr/>
          <p:nvPr/>
        </p:nvSpPr>
        <p:spPr bwMode="auto">
          <a:xfrm>
            <a:off x="548640" y="4709160"/>
            <a:ext cx="11109960" cy="1691640"/>
          </a:xfrm>
          <a:prstGeom prst="roundRect">
            <a:avLst>
              <a:gd name="adj" fmla="val 4324"/>
            </a:avLst>
          </a:prstGeom>
          <a:solidFill>
            <a:srgbClr val="EAF5F3"/>
          </a:solidFill>
          <a:ln/>
        </p:spPr>
      </p:sp>
      <p:sp>
        <p:nvSpPr>
          <p:cNvPr id="720341428" name="Text 11"/>
          <p:cNvSpPr/>
          <p:nvPr/>
        </p:nvSpPr>
        <p:spPr bwMode="auto">
          <a:xfrm>
            <a:off x="777240" y="4846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E7C7C"/>
                </a:solidFill>
                <a:latin typeface="Calibri"/>
                <a:ea typeface="Calibri"/>
                <a:cs typeface="Calibri"/>
              </a:rPr>
              <a:t>Relevance to our project</a:t>
            </a:r>
            <a:endParaRPr lang="en-US" sz="1350"/>
          </a:p>
        </p:txBody>
      </p:sp>
      <p:sp>
        <p:nvSpPr>
          <p:cNvPr id="2057129441" name="Text 12"/>
          <p:cNvSpPr/>
          <p:nvPr/>
        </p:nvSpPr>
        <p:spPr bwMode="auto">
          <a:xfrm>
            <a:off x="777240" y="516636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4999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Directly validates LightGBM as (at least) competitive with XGBoost on real building energy data — supports trying both and letting the data decide.</a:t>
            </a:r>
            <a:endParaRPr lang="en-US" sz="1150"/>
          </a:p>
          <a:p>
            <a:pPr marL="342900" indent="-342900">
              <a:lnSpc>
                <a:spcPct val="114999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Strongly suggests we should not stop at default hyperparameters: even a lightweight tuning pass (RandomizedSearchCV / Optuna) is likely to materially improve our R²/RMSE over an out-of-the-box model.</a:t>
            </a:r>
            <a:endParaRPr lang="en-US" sz="1150"/>
          </a:p>
        </p:txBody>
      </p:sp>
      <p:sp>
        <p:nvSpPr>
          <p:cNvPr id="395874300" name="Text 13"/>
          <p:cNvSpPr/>
          <p:nvPr/>
        </p:nvSpPr>
        <p:spPr bwMode="auto"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319303" name="Text 0"/>
          <p:cNvSpPr/>
          <p:nvPr/>
        </p:nvSpPr>
        <p:spPr bwMode="auto"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LITERATURE 3</a:t>
            </a:r>
            <a:endParaRPr lang="en-US" sz="1300"/>
          </a:p>
        </p:txBody>
      </p:sp>
      <p:sp>
        <p:nvSpPr>
          <p:cNvPr id="1169929174" name="Text 1"/>
          <p:cNvSpPr/>
          <p:nvPr/>
        </p:nvSpPr>
        <p:spPr bwMode="auto"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Low-energy house prediction (2024)</a:t>
            </a:r>
            <a:endParaRPr lang="en-US" sz="2600"/>
          </a:p>
        </p:txBody>
      </p:sp>
      <p:sp>
        <p:nvSpPr>
          <p:cNvPr id="1419536991" name="Text 2"/>
          <p:cNvSpPr/>
          <p:nvPr/>
        </p:nvSpPr>
        <p:spPr bwMode="auto">
          <a:xfrm>
            <a:off x="548640" y="12344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“Data-driven ML models for accurate prediction of energy consumption in a low-energy house: XGBoost, Random Forest, Decision Tree, and SVM” · J. Innovations in Engineering Education</a:t>
            </a:r>
            <a:endParaRPr lang="en-US" sz="1100"/>
          </a:p>
        </p:txBody>
      </p:sp>
      <p:sp>
        <p:nvSpPr>
          <p:cNvPr id="1369272542" name="Text 3"/>
          <p:cNvSpPr/>
          <p:nvPr/>
        </p:nvSpPr>
        <p:spPr bwMode="auto">
          <a:xfrm>
            <a:off x="54864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Setup</a:t>
            </a:r>
            <a:endParaRPr lang="en-US" sz="1400"/>
          </a:p>
        </p:txBody>
      </p:sp>
      <p:sp>
        <p:nvSpPr>
          <p:cNvPr id="875503624" name="Text 4"/>
          <p:cNvSpPr/>
          <p:nvPr/>
        </p:nvSpPr>
        <p:spPr bwMode="auto">
          <a:xfrm>
            <a:off x="548640" y="214884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A low-energy house in Belgium, predicting total energy consumption from indoor and outdoor environmental conditions (temperature, humidity, weather). Compares XGBoost, Random Forest, Decision Tree, and SVM.</a:t>
            </a:r>
            <a:endParaRPr lang="en-US" sz="1250"/>
          </a:p>
        </p:txBody>
      </p:sp>
      <p:sp>
        <p:nvSpPr>
          <p:cNvPr id="1453864004" name="Text 5"/>
          <p:cNvSpPr/>
          <p:nvPr/>
        </p:nvSpPr>
        <p:spPr bwMode="auto">
          <a:xfrm>
            <a:off x="548640" y="3520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Key results</a:t>
            </a:r>
            <a:endParaRPr lang="en-US" sz="1400"/>
          </a:p>
        </p:txBody>
      </p:sp>
      <p:sp>
        <p:nvSpPr>
          <p:cNvPr id="748905822" name="Text 6"/>
          <p:cNvSpPr/>
          <p:nvPr/>
        </p:nvSpPr>
        <p:spPr bwMode="auto">
          <a:xfrm>
            <a:off x="548640" y="388620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XGBoost outperforms all other models: R² = 0.61, RMSE = 65.28, MAE = 29.81, MAPE = 28.55% on the test set.</a:t>
            </a:r>
            <a:endParaRPr lang="en-US" sz="120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Even though absolute R² is modest (household energy data is noisy/high-variance), XGBoost's margin over RF, DT, and SVM was consistent across every metric reported.</a:t>
            </a:r>
            <a:endParaRPr lang="en-US" sz="1200"/>
          </a:p>
        </p:txBody>
      </p:sp>
      <p:sp>
        <p:nvSpPr>
          <p:cNvPr id="255725625" name="Shape 7"/>
          <p:cNvSpPr/>
          <p:nvPr/>
        </p:nvSpPr>
        <p:spPr bwMode="auto">
          <a:xfrm>
            <a:off x="6309360" y="178308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4F6F8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514457164" name="Text 8"/>
          <p:cNvSpPr/>
          <p:nvPr/>
        </p:nvSpPr>
        <p:spPr bwMode="auto">
          <a:xfrm>
            <a:off x="6537960" y="1947671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Relevance to our project</a:t>
            </a:r>
            <a:endParaRPr lang="en-US" sz="1350"/>
          </a:p>
        </p:txBody>
      </p:sp>
      <p:sp>
        <p:nvSpPr>
          <p:cNvPr id="597541995" name="Text 9"/>
          <p:cNvSpPr/>
          <p:nvPr/>
        </p:nvSpPr>
        <p:spPr bwMode="auto">
          <a:xfrm>
            <a:off x="6537960" y="233172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Almost identical scope to ours — household energy predicted from indoor/outdoor temperature &amp; humidity — and again XGBoost is the winner among tree-based and kernel methods.</a:t>
            </a:r>
            <a:endParaRPr lang="en-US" sz="115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The relatively modest R² (0.61) is an important expectation-setter: with only 4 features (Season, Power_kWh, Temperature_C, Humidity_pct) we should not assume we'll reach R² &gt; 0.9 like the building-scale studies — household-level noise is real.</a:t>
            </a:r>
            <a:endParaRPr lang="en-US" sz="115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Reinforces reporting MAPE alongside R²/RMSE, since percentage error is more interpretable for stakeholders judging a household energy tool.</a:t>
            </a:r>
            <a:endParaRPr lang="en-US" sz="1150"/>
          </a:p>
        </p:txBody>
      </p:sp>
      <p:sp>
        <p:nvSpPr>
          <p:cNvPr id="705550368" name="Text 10"/>
          <p:cNvSpPr/>
          <p:nvPr/>
        </p:nvSpPr>
        <p:spPr bwMode="auto"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545949" name="Text 0"/>
          <p:cNvSpPr/>
          <p:nvPr/>
        </p:nvSpPr>
        <p:spPr bwMode="auto"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E0A458"/>
                </a:solidFill>
                <a:latin typeface="Calibri"/>
                <a:ea typeface="Calibri"/>
                <a:cs typeface="Calibri"/>
              </a:rPr>
              <a:t>LITERATURE 4</a:t>
            </a:r>
            <a:endParaRPr lang="en-US" sz="1300"/>
          </a:p>
        </p:txBody>
      </p:sp>
      <p:sp>
        <p:nvSpPr>
          <p:cNvPr id="1043239041" name="Text 1"/>
          <p:cNvSpPr/>
          <p:nvPr/>
        </p:nvSpPr>
        <p:spPr bwMode="auto"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IoT-based Building Energy Management System (2025)</a:t>
            </a:r>
            <a:endParaRPr lang="en-US" sz="2600"/>
          </a:p>
        </p:txBody>
      </p:sp>
      <p:sp>
        <p:nvSpPr>
          <p:cNvPr id="2029411946" name="Text 2"/>
          <p:cNvSpPr/>
          <p:nvPr/>
        </p:nvSpPr>
        <p:spPr bwMode="auto">
          <a:xfrm>
            <a:off x="548640" y="1234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“Comparative Energy Consumption Forecasting Using XGBoost, LightGBM, LSTM, and ARIMAX with IoT-Based Data Acquisition” · Research Square (preprint)</a:t>
            </a:r>
            <a:endParaRPr lang="en-US" sz="1100"/>
          </a:p>
        </p:txBody>
      </p:sp>
      <p:sp>
        <p:nvSpPr>
          <p:cNvPr id="1807458239" name="Text 3"/>
          <p:cNvSpPr/>
          <p:nvPr/>
        </p:nvSpPr>
        <p:spPr bwMode="auto"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Setup</a:t>
            </a:r>
            <a:endParaRPr lang="en-US" sz="1400"/>
          </a:p>
        </p:txBody>
      </p:sp>
      <p:sp>
        <p:nvSpPr>
          <p:cNvPr id="124938261" name="Text 4"/>
          <p:cNvSpPr/>
          <p:nvPr/>
        </p:nvSpPr>
        <p:spPr bwMode="auto">
          <a:xfrm>
            <a:off x="548640" y="205740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A custom IoT-based data acquisition system captures energy consumption patterns in Moroccan homes. Head-to-head comparison of XGBoost and LightGBM (gradient boosting), LSTM (deep learning), and ARIMAX (statistical baseline with exogenous variables).</a:t>
            </a:r>
            <a:endParaRPr lang="en-US" sz="1250"/>
          </a:p>
        </p:txBody>
      </p:sp>
      <p:sp>
        <p:nvSpPr>
          <p:cNvPr id="1098959915" name="Text 5"/>
          <p:cNvSpPr/>
          <p:nvPr/>
        </p:nvSpPr>
        <p:spPr bwMode="auto">
          <a:xfrm>
            <a:off x="54864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Key result</a:t>
            </a:r>
            <a:endParaRPr lang="en-US" sz="1400"/>
          </a:p>
        </p:txBody>
      </p:sp>
      <p:sp>
        <p:nvSpPr>
          <p:cNvPr id="8240630" name="Text 6"/>
          <p:cNvSpPr/>
          <p:nvPr/>
        </p:nvSpPr>
        <p:spPr bwMode="auto">
          <a:xfrm>
            <a:off x="548640" y="39776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LightGBM comes out on top overall — best accuracy, fastest execution speed, and best handling of the dataset's inherent nonlinearity — with XGBoost close behind; both clearly beat the ARIMAX statistical baseline.</a:t>
            </a:r>
            <a:endParaRPr lang="en-US" sz="1250"/>
          </a:p>
        </p:txBody>
      </p:sp>
      <p:sp>
        <p:nvSpPr>
          <p:cNvPr id="1501390514" name="Shape 7"/>
          <p:cNvSpPr/>
          <p:nvPr/>
        </p:nvSpPr>
        <p:spPr bwMode="auto">
          <a:xfrm>
            <a:off x="6309360" y="169164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DF4E5"/>
          </a:solidFill>
          <a:ln/>
        </p:spPr>
      </p:sp>
      <p:sp>
        <p:nvSpPr>
          <p:cNvPr id="561532041" name="Text 8"/>
          <p:cNvSpPr/>
          <p:nvPr/>
        </p:nvSpPr>
        <p:spPr bwMode="auto">
          <a:xfrm>
            <a:off x="6537960" y="185623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B8863E"/>
                </a:solidFill>
                <a:latin typeface="Calibri"/>
                <a:ea typeface="Calibri"/>
                <a:cs typeface="Calibri"/>
              </a:rPr>
              <a:t>Why LightGBM edged out XGBoost here</a:t>
            </a:r>
            <a:endParaRPr lang="en-US" sz="1300"/>
          </a:p>
        </p:txBody>
      </p:sp>
      <p:sp>
        <p:nvSpPr>
          <p:cNvPr id="468037324" name="Text 9"/>
          <p:cNvSpPr/>
          <p:nvPr/>
        </p:nvSpPr>
        <p:spPr bwMode="auto">
          <a:xfrm>
            <a:off x="6537960" y="228600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Leaf-wise (best-first) tree growth vs. XGBoost's level-wise growth — often reaches lower error for the same tree budget.</a:t>
            </a:r>
            <a:endParaRPr lang="en-US" sz="115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Histogram-based binning makes LightGBM substantially faster on the same IoT sensor data, a practical advantage for near-real-time BEMS deployment.</a:t>
            </a:r>
            <a:endParaRPr lang="en-US" sz="115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Both models still vastly outperform ARIMAX, confirming gradient boosting — not classical time-series stats — is the right family for this feature set.</a:t>
            </a:r>
            <a:endParaRPr lang="en-US" sz="1150"/>
          </a:p>
        </p:txBody>
      </p:sp>
      <p:sp>
        <p:nvSpPr>
          <p:cNvPr id="662507021" name="Shape 10"/>
          <p:cNvSpPr/>
          <p:nvPr/>
        </p:nvSpPr>
        <p:spPr bwMode="auto">
          <a:xfrm>
            <a:off x="548640" y="525780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FDF4E5"/>
          </a:solidFill>
          <a:ln/>
        </p:spPr>
      </p:sp>
      <p:sp>
        <p:nvSpPr>
          <p:cNvPr id="743354135" name="Text 11"/>
          <p:cNvSpPr/>
          <p:nvPr/>
        </p:nvSpPr>
        <p:spPr bwMode="auto">
          <a:xfrm>
            <a:off x="777240" y="5394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6B4E22"/>
                </a:solidFill>
                <a:latin typeface="Calibri"/>
                <a:ea typeface="Calibri"/>
                <a:cs typeface="Calibri"/>
              </a:rPr>
              <a:t>Relevance to our project:  Directly settles the “XGBoost or LightGBM?” question with real household energy IoT data — try both, but expect LightGBM to have a speed and possibly a slight accuracy edge as our dataset grows; XGBoost remains the safer, more heavily-documented default if training time isn't a constraint.</a:t>
            </a:r>
            <a:endParaRPr lang="en-US" sz="1150"/>
          </a:p>
        </p:txBody>
      </p:sp>
      <p:sp>
        <p:nvSpPr>
          <p:cNvPr id="1247159038" name="Text 12"/>
          <p:cNvSpPr/>
          <p:nvPr/>
        </p:nvSpPr>
        <p:spPr bwMode="auto"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7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143478" name="Text 0"/>
          <p:cNvSpPr/>
          <p:nvPr/>
        </p:nvSpPr>
        <p:spPr bwMode="auto"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E7C7C"/>
                </a:solidFill>
                <a:latin typeface="Calibri"/>
                <a:ea typeface="Calibri"/>
                <a:cs typeface="Calibri"/>
              </a:rPr>
              <a:t>SYNTHESIS</a:t>
            </a:r>
            <a:endParaRPr lang="en-US" sz="1300"/>
          </a:p>
        </p:txBody>
      </p:sp>
      <p:sp>
        <p:nvSpPr>
          <p:cNvPr id="1392439978" name="Text 1"/>
          <p:cNvSpPr/>
          <p:nvPr/>
        </p:nvSpPr>
        <p:spPr bwMode="auto"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Side-by-side comparison</a:t>
            </a:r>
            <a:endParaRPr lang="en-US" sz="2600"/>
          </a:p>
        </p:txBody>
      </p:sp>
      <p:sp>
        <p:nvSpPr>
          <p:cNvPr id="1052877889" name="Shape 2"/>
          <p:cNvSpPr/>
          <p:nvPr/>
        </p:nvSpPr>
        <p:spPr bwMode="auto">
          <a:xfrm>
            <a:off x="548640" y="1417320"/>
            <a:ext cx="4572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11244527" name="Text 3"/>
          <p:cNvSpPr/>
          <p:nvPr/>
        </p:nvSpPr>
        <p:spPr bwMode="auto">
          <a:xfrm>
            <a:off x="548640" y="1417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#</a:t>
            </a:r>
            <a:endParaRPr lang="en-US" sz="1200"/>
          </a:p>
        </p:txBody>
      </p:sp>
      <p:sp>
        <p:nvSpPr>
          <p:cNvPr id="1216506" name="Shape 4"/>
          <p:cNvSpPr/>
          <p:nvPr/>
        </p:nvSpPr>
        <p:spPr bwMode="auto">
          <a:xfrm>
            <a:off x="1005840" y="1417320"/>
            <a:ext cx="237744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60008771" name="Text 5"/>
          <p:cNvSpPr/>
          <p:nvPr/>
        </p:nvSpPr>
        <p:spPr bwMode="auto">
          <a:xfrm>
            <a:off x="1005840" y="1417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Source</a:t>
            </a:r>
            <a:endParaRPr lang="en-US" sz="1200"/>
          </a:p>
        </p:txBody>
      </p:sp>
      <p:sp>
        <p:nvSpPr>
          <p:cNvPr id="839918088" name="Shape 6"/>
          <p:cNvSpPr/>
          <p:nvPr/>
        </p:nvSpPr>
        <p:spPr bwMode="auto">
          <a:xfrm>
            <a:off x="3383280" y="1417320"/>
            <a:ext cx="352044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81907254" name="Text 7"/>
          <p:cNvSpPr/>
          <p:nvPr/>
        </p:nvSpPr>
        <p:spPr bwMode="auto">
          <a:xfrm>
            <a:off x="3383280" y="14173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/ Features</a:t>
            </a:r>
            <a:endParaRPr lang="en-US" sz="1200"/>
          </a:p>
        </p:txBody>
      </p:sp>
      <p:sp>
        <p:nvSpPr>
          <p:cNvPr id="418341247" name="Shape 8"/>
          <p:cNvSpPr/>
          <p:nvPr/>
        </p:nvSpPr>
        <p:spPr bwMode="auto">
          <a:xfrm>
            <a:off x="6903720" y="1417320"/>
            <a:ext cx="24688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22392596" name="Text 9"/>
          <p:cNvSpPr/>
          <p:nvPr/>
        </p:nvSpPr>
        <p:spPr bwMode="auto">
          <a:xfrm>
            <a:off x="6903720" y="1417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Winning model</a:t>
            </a:r>
            <a:endParaRPr lang="en-US" sz="1200"/>
          </a:p>
        </p:txBody>
      </p:sp>
      <p:sp>
        <p:nvSpPr>
          <p:cNvPr id="2099205039" name="Shape 10"/>
          <p:cNvSpPr/>
          <p:nvPr/>
        </p:nvSpPr>
        <p:spPr bwMode="auto">
          <a:xfrm>
            <a:off x="9372600" y="1417320"/>
            <a:ext cx="22860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34740211" name="Text 11"/>
          <p:cNvSpPr/>
          <p:nvPr/>
        </p:nvSpPr>
        <p:spPr bwMode="auto">
          <a:xfrm>
            <a:off x="9372600" y="1417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Reported metrics</a:t>
            </a:r>
            <a:endParaRPr lang="en-US" sz="1200"/>
          </a:p>
        </p:txBody>
      </p:sp>
      <p:sp>
        <p:nvSpPr>
          <p:cNvPr id="853216870" name="Shape 12"/>
          <p:cNvSpPr/>
          <p:nvPr/>
        </p:nvSpPr>
        <p:spPr bwMode="auto">
          <a:xfrm>
            <a:off x="548640" y="1828800"/>
            <a:ext cx="457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448748791" name="Text 13"/>
          <p:cNvSpPr/>
          <p:nvPr/>
        </p:nvSpPr>
        <p:spPr bwMode="auto">
          <a:xfrm>
            <a:off x="621792" y="1828800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1050" b="1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050"/>
          </a:p>
        </p:txBody>
      </p:sp>
      <p:sp>
        <p:nvSpPr>
          <p:cNvPr id="1048671779" name="Shape 14"/>
          <p:cNvSpPr/>
          <p:nvPr/>
        </p:nvSpPr>
        <p:spPr bwMode="auto">
          <a:xfrm>
            <a:off x="1005840" y="1828800"/>
            <a:ext cx="2377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1224267248" name="Text 15"/>
          <p:cNvSpPr/>
          <p:nvPr/>
        </p:nvSpPr>
        <p:spPr bwMode="auto">
          <a:xfrm>
            <a:off x="1078992" y="1828800"/>
            <a:ext cx="2231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0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Energy and AI (2025)</a:t>
            </a:r>
            <a:endParaRPr lang="en-US" sz="1050"/>
          </a:p>
        </p:txBody>
      </p:sp>
      <p:sp>
        <p:nvSpPr>
          <p:cNvPr id="1220908099" name="Shape 16"/>
          <p:cNvSpPr/>
          <p:nvPr/>
        </p:nvSpPr>
        <p:spPr bwMode="auto">
          <a:xfrm>
            <a:off x="3383280" y="1828800"/>
            <a:ext cx="3520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1109950053" name="Text 17"/>
          <p:cNvSpPr/>
          <p:nvPr/>
        </p:nvSpPr>
        <p:spPr bwMode="auto">
          <a:xfrm>
            <a:off x="3456432" y="1828800"/>
            <a:ext cx="3374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0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Temp, humidity, renewables → demand</a:t>
            </a:r>
            <a:endParaRPr lang="en-US" sz="1050"/>
          </a:p>
        </p:txBody>
      </p:sp>
      <p:sp>
        <p:nvSpPr>
          <p:cNvPr id="221866437" name="Shape 18"/>
          <p:cNvSpPr/>
          <p:nvPr/>
        </p:nvSpPr>
        <p:spPr bwMode="auto">
          <a:xfrm>
            <a:off x="6903720" y="1828800"/>
            <a:ext cx="24688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525800299" name="Text 19"/>
          <p:cNvSpPr/>
          <p:nvPr/>
        </p:nvSpPr>
        <p:spPr bwMode="auto">
          <a:xfrm>
            <a:off x="6976872" y="1828800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050" b="1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XGBoost (+LSTM hybrid)</a:t>
            </a:r>
            <a:endParaRPr lang="en-US" sz="1050"/>
          </a:p>
        </p:txBody>
      </p:sp>
      <p:sp>
        <p:nvSpPr>
          <p:cNvPr id="37936422" name="Shape 20"/>
          <p:cNvSpPr/>
          <p:nvPr/>
        </p:nvSpPr>
        <p:spPr bwMode="auto">
          <a:xfrm>
            <a:off x="9372600" y="1828800"/>
            <a:ext cx="2286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1614750721" name="Text 21"/>
          <p:cNvSpPr/>
          <p:nvPr/>
        </p:nvSpPr>
        <p:spPr bwMode="auto">
          <a:xfrm>
            <a:off x="9445752" y="1828800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0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RMSE 118.24, R² 0.987</a:t>
            </a:r>
            <a:endParaRPr lang="en-US" sz="1050"/>
          </a:p>
        </p:txBody>
      </p:sp>
      <p:sp>
        <p:nvSpPr>
          <p:cNvPr id="1157946786" name="Shape 22"/>
          <p:cNvSpPr/>
          <p:nvPr/>
        </p:nvSpPr>
        <p:spPr bwMode="auto">
          <a:xfrm>
            <a:off x="548640" y="2743200"/>
            <a:ext cx="457200" cy="914400"/>
          </a:xfrm>
          <a:prstGeom prst="rect">
            <a:avLst/>
          </a:prstGeom>
          <a:solidFill>
            <a:srgbClr val="F4F6F8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962884174" name="Text 23"/>
          <p:cNvSpPr/>
          <p:nvPr/>
        </p:nvSpPr>
        <p:spPr bwMode="auto">
          <a:xfrm>
            <a:off x="621792" y="2743200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1050" b="1">
                <a:solidFill>
                  <a:srgbClr val="1E7C7C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050"/>
          </a:p>
        </p:txBody>
      </p:sp>
      <p:sp>
        <p:nvSpPr>
          <p:cNvPr id="349175664" name="Shape 24"/>
          <p:cNvSpPr/>
          <p:nvPr/>
        </p:nvSpPr>
        <p:spPr bwMode="auto">
          <a:xfrm>
            <a:off x="1005840" y="2743200"/>
            <a:ext cx="2377440" cy="914400"/>
          </a:xfrm>
          <a:prstGeom prst="rect">
            <a:avLst/>
          </a:prstGeom>
          <a:solidFill>
            <a:srgbClr val="F4F6F8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1332180145" name="Text 25"/>
          <p:cNvSpPr/>
          <p:nvPr/>
        </p:nvSpPr>
        <p:spPr bwMode="auto">
          <a:xfrm>
            <a:off x="1078992" y="2743200"/>
            <a:ext cx="2231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0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Electrical Eng. (2025)</a:t>
            </a:r>
            <a:endParaRPr lang="en-US" sz="1050"/>
          </a:p>
        </p:txBody>
      </p:sp>
      <p:sp>
        <p:nvSpPr>
          <p:cNvPr id="241991339" name="Shape 26"/>
          <p:cNvSpPr/>
          <p:nvPr/>
        </p:nvSpPr>
        <p:spPr bwMode="auto">
          <a:xfrm>
            <a:off x="3383280" y="2743200"/>
            <a:ext cx="3520440" cy="914400"/>
          </a:xfrm>
          <a:prstGeom prst="rect">
            <a:avLst/>
          </a:prstGeom>
          <a:solidFill>
            <a:srgbClr val="F4F6F8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1071336709" name="Text 27"/>
          <p:cNvSpPr/>
          <p:nvPr/>
        </p:nvSpPr>
        <p:spPr bwMode="auto">
          <a:xfrm>
            <a:off x="3456432" y="2743200"/>
            <a:ext cx="3374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0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2 buildings, WA — energy use</a:t>
            </a:r>
            <a:endParaRPr lang="en-US" sz="1050"/>
          </a:p>
        </p:txBody>
      </p:sp>
      <p:sp>
        <p:nvSpPr>
          <p:cNvPr id="1845319521" name="Shape 28"/>
          <p:cNvSpPr/>
          <p:nvPr/>
        </p:nvSpPr>
        <p:spPr bwMode="auto">
          <a:xfrm>
            <a:off x="6903720" y="2743200"/>
            <a:ext cx="2468880" cy="914400"/>
          </a:xfrm>
          <a:prstGeom prst="rect">
            <a:avLst/>
          </a:prstGeom>
          <a:solidFill>
            <a:srgbClr val="F4F6F8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48629560" name="Text 29"/>
          <p:cNvSpPr/>
          <p:nvPr/>
        </p:nvSpPr>
        <p:spPr bwMode="auto">
          <a:xfrm>
            <a:off x="6976872" y="2743200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050" b="1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LightGBM + SBO</a:t>
            </a:r>
            <a:endParaRPr lang="en-US" sz="1050"/>
          </a:p>
        </p:txBody>
      </p:sp>
      <p:sp>
        <p:nvSpPr>
          <p:cNvPr id="399317709" name="Shape 30"/>
          <p:cNvSpPr/>
          <p:nvPr/>
        </p:nvSpPr>
        <p:spPr bwMode="auto">
          <a:xfrm>
            <a:off x="9372600" y="2743200"/>
            <a:ext cx="2286000" cy="914400"/>
          </a:xfrm>
          <a:prstGeom prst="rect">
            <a:avLst/>
          </a:prstGeom>
          <a:solidFill>
            <a:srgbClr val="F4F6F8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1115165155" name="Text 31"/>
          <p:cNvSpPr/>
          <p:nvPr/>
        </p:nvSpPr>
        <p:spPr bwMode="auto">
          <a:xfrm>
            <a:off x="9445752" y="2743200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0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R² 0.915, MAE 2.42, RMSE 5.26</a:t>
            </a:r>
            <a:endParaRPr lang="en-US" sz="1050"/>
          </a:p>
        </p:txBody>
      </p:sp>
      <p:sp>
        <p:nvSpPr>
          <p:cNvPr id="1975050357" name="Shape 32"/>
          <p:cNvSpPr/>
          <p:nvPr/>
        </p:nvSpPr>
        <p:spPr bwMode="auto">
          <a:xfrm>
            <a:off x="548640" y="3657600"/>
            <a:ext cx="457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1175289797" name="Text 33"/>
          <p:cNvSpPr/>
          <p:nvPr/>
        </p:nvSpPr>
        <p:spPr bwMode="auto">
          <a:xfrm>
            <a:off x="621792" y="3657600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105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050"/>
          </a:p>
        </p:txBody>
      </p:sp>
      <p:sp>
        <p:nvSpPr>
          <p:cNvPr id="1619294589" name="Shape 34"/>
          <p:cNvSpPr/>
          <p:nvPr/>
        </p:nvSpPr>
        <p:spPr bwMode="auto">
          <a:xfrm>
            <a:off x="1005840" y="3657600"/>
            <a:ext cx="2377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1328534517" name="Text 35"/>
          <p:cNvSpPr/>
          <p:nvPr/>
        </p:nvSpPr>
        <p:spPr bwMode="auto">
          <a:xfrm>
            <a:off x="1078992" y="3657600"/>
            <a:ext cx="2231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0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J. Innov. Eng. Ed. (2024)</a:t>
            </a:r>
            <a:endParaRPr lang="en-US" sz="1050"/>
          </a:p>
        </p:txBody>
      </p:sp>
      <p:sp>
        <p:nvSpPr>
          <p:cNvPr id="845580798" name="Shape 36"/>
          <p:cNvSpPr/>
          <p:nvPr/>
        </p:nvSpPr>
        <p:spPr bwMode="auto">
          <a:xfrm>
            <a:off x="3383280" y="3657600"/>
            <a:ext cx="3520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818968968" name="Text 37"/>
          <p:cNvSpPr/>
          <p:nvPr/>
        </p:nvSpPr>
        <p:spPr bwMode="auto">
          <a:xfrm>
            <a:off x="3456432" y="3657600"/>
            <a:ext cx="3374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0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Indoor/outdoor temp &amp; humidity</a:t>
            </a:r>
            <a:endParaRPr lang="en-US" sz="1050"/>
          </a:p>
        </p:txBody>
      </p:sp>
      <p:sp>
        <p:nvSpPr>
          <p:cNvPr id="332487199" name="Shape 38"/>
          <p:cNvSpPr/>
          <p:nvPr/>
        </p:nvSpPr>
        <p:spPr bwMode="auto">
          <a:xfrm>
            <a:off x="6903720" y="3657600"/>
            <a:ext cx="24688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1162043261" name="Text 39"/>
          <p:cNvSpPr/>
          <p:nvPr/>
        </p:nvSpPr>
        <p:spPr bwMode="auto">
          <a:xfrm>
            <a:off x="6976872" y="3657600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050" b="1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XGBoost</a:t>
            </a:r>
            <a:endParaRPr lang="en-US" sz="1050"/>
          </a:p>
        </p:txBody>
      </p:sp>
      <p:sp>
        <p:nvSpPr>
          <p:cNvPr id="1134073906" name="Shape 40"/>
          <p:cNvSpPr/>
          <p:nvPr/>
        </p:nvSpPr>
        <p:spPr bwMode="auto">
          <a:xfrm>
            <a:off x="9372600" y="3657600"/>
            <a:ext cx="2286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1693653138" name="Text 41"/>
          <p:cNvSpPr/>
          <p:nvPr/>
        </p:nvSpPr>
        <p:spPr bwMode="auto">
          <a:xfrm>
            <a:off x="9445752" y="3657600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0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R² 0.61, RMSE 65.28, MAPE 28.6%</a:t>
            </a:r>
            <a:endParaRPr lang="en-US" sz="1050"/>
          </a:p>
        </p:txBody>
      </p:sp>
      <p:sp>
        <p:nvSpPr>
          <p:cNvPr id="539810328" name="Shape 42"/>
          <p:cNvSpPr/>
          <p:nvPr/>
        </p:nvSpPr>
        <p:spPr bwMode="auto">
          <a:xfrm>
            <a:off x="548640" y="4572000"/>
            <a:ext cx="457200" cy="914400"/>
          </a:xfrm>
          <a:prstGeom prst="rect">
            <a:avLst/>
          </a:prstGeom>
          <a:solidFill>
            <a:srgbClr val="F4F6F8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622125682" name="Text 43"/>
          <p:cNvSpPr/>
          <p:nvPr/>
        </p:nvSpPr>
        <p:spPr bwMode="auto">
          <a:xfrm>
            <a:off x="621792" y="4572000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1050" b="1">
                <a:solidFill>
                  <a:srgbClr val="E0A458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050"/>
          </a:p>
        </p:txBody>
      </p:sp>
      <p:sp>
        <p:nvSpPr>
          <p:cNvPr id="1214692839" name="Shape 44"/>
          <p:cNvSpPr/>
          <p:nvPr/>
        </p:nvSpPr>
        <p:spPr bwMode="auto">
          <a:xfrm>
            <a:off x="1005840" y="4572000"/>
            <a:ext cx="2377440" cy="914400"/>
          </a:xfrm>
          <a:prstGeom prst="rect">
            <a:avLst/>
          </a:prstGeom>
          <a:solidFill>
            <a:srgbClr val="F4F6F8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1617392185" name="Text 45"/>
          <p:cNvSpPr/>
          <p:nvPr/>
        </p:nvSpPr>
        <p:spPr bwMode="auto">
          <a:xfrm>
            <a:off x="1078992" y="4572000"/>
            <a:ext cx="2231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0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Research Square (2025)</a:t>
            </a:r>
            <a:endParaRPr lang="en-US" sz="1050"/>
          </a:p>
        </p:txBody>
      </p:sp>
      <p:sp>
        <p:nvSpPr>
          <p:cNvPr id="806172630" name="Shape 46"/>
          <p:cNvSpPr/>
          <p:nvPr/>
        </p:nvSpPr>
        <p:spPr bwMode="auto">
          <a:xfrm>
            <a:off x="3383280" y="4572000"/>
            <a:ext cx="3520440" cy="914400"/>
          </a:xfrm>
          <a:prstGeom prst="rect">
            <a:avLst/>
          </a:prstGeom>
          <a:solidFill>
            <a:srgbClr val="F4F6F8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4030299" name="Text 47"/>
          <p:cNvSpPr/>
          <p:nvPr/>
        </p:nvSpPr>
        <p:spPr bwMode="auto">
          <a:xfrm>
            <a:off x="3456432" y="4572000"/>
            <a:ext cx="3374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0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IoT home sensors (Morocco)</a:t>
            </a:r>
            <a:endParaRPr lang="en-US" sz="1050"/>
          </a:p>
        </p:txBody>
      </p:sp>
      <p:sp>
        <p:nvSpPr>
          <p:cNvPr id="942262997" name="Shape 48"/>
          <p:cNvSpPr/>
          <p:nvPr/>
        </p:nvSpPr>
        <p:spPr bwMode="auto">
          <a:xfrm>
            <a:off x="6903720" y="4572000"/>
            <a:ext cx="2468880" cy="914400"/>
          </a:xfrm>
          <a:prstGeom prst="rect">
            <a:avLst/>
          </a:prstGeom>
          <a:solidFill>
            <a:srgbClr val="F4F6F8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1492402441" name="Text 49"/>
          <p:cNvSpPr/>
          <p:nvPr/>
        </p:nvSpPr>
        <p:spPr bwMode="auto">
          <a:xfrm>
            <a:off x="6976872" y="4572000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050" b="1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LightGBM (XGBoost close 2nd)</a:t>
            </a:r>
            <a:endParaRPr lang="en-US" sz="1050"/>
          </a:p>
        </p:txBody>
      </p:sp>
      <p:sp>
        <p:nvSpPr>
          <p:cNvPr id="512056389" name="Shape 50"/>
          <p:cNvSpPr/>
          <p:nvPr/>
        </p:nvSpPr>
        <p:spPr bwMode="auto">
          <a:xfrm>
            <a:off x="9372600" y="4572000"/>
            <a:ext cx="2286000" cy="914400"/>
          </a:xfrm>
          <a:prstGeom prst="rect">
            <a:avLst/>
          </a:prstGeom>
          <a:solidFill>
            <a:srgbClr val="F4F6F8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1256024931" name="Text 51"/>
          <p:cNvSpPr/>
          <p:nvPr/>
        </p:nvSpPr>
        <p:spPr bwMode="auto">
          <a:xfrm>
            <a:off x="9445752" y="4572000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050">
                <a:solidFill>
                  <a:srgbClr val="20242B"/>
                </a:solidFill>
                <a:latin typeface="Calibri"/>
                <a:ea typeface="Calibri"/>
                <a:cs typeface="Calibri"/>
              </a:rPr>
              <a:t>Best accuracy + fastest runtime</a:t>
            </a:r>
            <a:endParaRPr lang="en-US" sz="1050"/>
          </a:p>
        </p:txBody>
      </p:sp>
      <p:sp>
        <p:nvSpPr>
          <p:cNvPr id="283102074" name="Text 52"/>
          <p:cNvSpPr/>
          <p:nvPr/>
        </p:nvSpPr>
        <p:spPr bwMode="auto">
          <a:xfrm>
            <a:off x="548640" y="56235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 i="1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Takeaway: across every study, gradient-boosted trees (XGBoost/LightGBM) beat SVM/SVR, Decision Trees, and classical statistical baselines (ARIMAX/Linear Regression), and are competitive with or better than LSTM on non-sequential, tabular energy data. LightGBM tends to edge ahead on speed and sometimes accuracy on larger/IoT-scale data; XGBoost remains a very strong, well-documented default.</a:t>
            </a:r>
            <a:endParaRPr lang="en-US" sz="1150"/>
          </a:p>
        </p:txBody>
      </p:sp>
      <p:sp>
        <p:nvSpPr>
          <p:cNvPr id="263081735" name="Text 53"/>
          <p:cNvSpPr/>
          <p:nvPr/>
        </p:nvSpPr>
        <p:spPr bwMode="auto"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0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3</cp:revision>
  <dcterms:created xsi:type="dcterms:W3CDTF">2026-08-19T06:53:42Z</dcterms:created>
  <dcterms:modified xsi:type="dcterms:W3CDTF">2026-08-19T08:30:22Z</dcterms:modified>
</cp:coreProperties>
</file>